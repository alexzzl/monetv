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  <p:sldMasterId id="2147483661" r:id="rId2"/>
  </p:sldMasterIdLst>
  <p:notesMasterIdLst>
    <p:notesMasterId r:id="rId14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embeddedFontLst>
    <p:embeddedFont>
      <p:font typeface="Constantia" panose="02030602050306030303" pitchFamily="18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5375610-7600-4973-BF82-191DA6F836F1}">
  <a:tblStyle styleId="{25375610-7600-4973-BF82-191DA6F836F1}" styleName="Table_0">
    <a:wholeTbl>
      <a:tcTxStyle b="off" i="off">
        <a:font>
          <a:latin typeface="Constantia"/>
          <a:ea typeface="Constantia"/>
          <a:cs typeface="Constantia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BF5"/>
          </a:solidFill>
        </a:fill>
      </a:tcStyle>
    </a:wholeTbl>
    <a:band1H>
      <a:tcTxStyle/>
      <a:tcStyle>
        <a:tcBdr/>
        <a:fill>
          <a:solidFill>
            <a:srgbClr val="CA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onstantia"/>
          <a:ea typeface="Constantia"/>
          <a:cs typeface="Constantia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onstantia"/>
          <a:ea typeface="Constantia"/>
          <a:cs typeface="Constantia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onstantia"/>
          <a:ea typeface="Constantia"/>
          <a:cs typeface="Constantia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onstantia"/>
          <a:ea typeface="Constantia"/>
          <a:cs typeface="Constantia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0D7D541-CF8F-4543-9F64-9DD65BD08CB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2060" y="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4.fntdata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3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font" Target="fonts/font1.fntdata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marL="914400" lvl="1" indent="-325755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marL="1828800" lvl="3" indent="-302894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marL="2286000" lvl="4" indent="-302895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bg>
      <p:bgPr>
        <a:gradFill>
          <a:gsLst>
            <a:gs pos="0">
              <a:srgbClr val="439FD7"/>
            </a:gs>
            <a:gs pos="25000">
              <a:srgbClr val="4397CA"/>
            </a:gs>
            <a:gs pos="100000">
              <a:srgbClr val="00466A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75" bIns="0" anchor="b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  <a:defRPr sz="5600" b="1">
                <a:solidFill>
                  <a:srgbClr val="4CE0E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rmAutofit/>
          </a:bodyPr>
          <a:lstStyle>
            <a:lvl1pPr marR="45720" lvl="0" algn="r">
              <a:spcBef>
                <a:spcPts val="520"/>
              </a:spcBef>
              <a:spcAft>
                <a:spcPts val="0"/>
              </a:spcAft>
              <a:buSzPts val="247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bg>
      <p:bgPr>
        <a:gradFill>
          <a:gsLst>
            <a:gs pos="0">
              <a:srgbClr val="439FD7"/>
            </a:gs>
            <a:gs pos="25000">
              <a:srgbClr val="4397CA"/>
            </a:gs>
            <a:gs pos="100000">
              <a:srgbClr val="00466A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4AE3AC"/>
              </a:buClr>
              <a:buSzPts val="5600"/>
              <a:buFont typeface="Calibri"/>
              <a:buNone/>
              <a:defRPr sz="5600" b="1" cap="none">
                <a:solidFill>
                  <a:srgbClr val="4AE3A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spcBef>
                <a:spcPts val="440"/>
              </a:spcBef>
              <a:spcAft>
                <a:spcPts val="0"/>
              </a:spcAft>
              <a:buSzPts val="2090"/>
              <a:buNone/>
              <a:defRPr sz="22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53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112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>
                <a:solidFill>
                  <a:schemeClr val="lt1"/>
                </a:solidFill>
              </a:defRPr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1"/>
          </p:nvPr>
        </p:nvSpPr>
        <p:spPr>
          <a:xfrm>
            <a:off x="457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5445" algn="l"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marL="914400" lvl="1" indent="-358140" algn="l"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marL="1371600" lvl="2" indent="-317500" algn="l"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marL="1828800" lvl="3" indent="-302894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marL="2286000" lvl="4" indent="-294639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2"/>
          </p:nvPr>
        </p:nvSpPr>
        <p:spPr>
          <a:xfrm>
            <a:off x="4648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5445" algn="l"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marL="914400" lvl="1" indent="-358140" algn="l"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marL="1371600" lvl="2" indent="-317500" algn="l"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marL="1828800" lvl="3" indent="-302894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marL="2286000" lvl="4" indent="-294639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28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7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04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040"/>
              <a:buNone/>
              <a:defRPr sz="1600" b="1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2"/>
          </p:nvPr>
        </p:nvSpPr>
        <p:spPr>
          <a:xfrm>
            <a:off x="4645025" y="1859757"/>
            <a:ext cx="4041775" cy="654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28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7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04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040"/>
              <a:buNone/>
              <a:defRPr sz="1600" b="1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3"/>
          </p:nvPr>
        </p:nvSpPr>
        <p:spPr>
          <a:xfrm>
            <a:off x="457200" y="2514600"/>
            <a:ext cx="4040188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rmAutofit/>
          </a:bodyPr>
          <a:lstStyle>
            <a:lvl1pPr marL="457200" lvl="0" indent="-361315" algn="l"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marL="914400" lvl="1" indent="-336550" algn="l"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marL="1828800" lvl="3" indent="-294639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marL="2286000" lvl="4" indent="-294639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4"/>
          </p:nvPr>
        </p:nvSpPr>
        <p:spPr>
          <a:xfrm>
            <a:off x="4645025" y="2514600"/>
            <a:ext cx="4041775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rmAutofit/>
          </a:bodyPr>
          <a:lstStyle>
            <a:lvl1pPr marL="457200" lvl="0" indent="-361315" algn="l"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marL="914400" lvl="1" indent="-336550" algn="l"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marL="1828800" lvl="3" indent="-294639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marL="2286000" lvl="4" indent="-294639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 sz="5000" b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None/>
              <a:defRPr sz="2600" b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1"/>
          </p:nvPr>
        </p:nvSpPr>
        <p:spPr>
          <a:xfrm>
            <a:off x="685800" y="1676400"/>
            <a:ext cx="2743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45700" rIns="1827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33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02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body" idx="2"/>
          </p:nvPr>
        </p:nvSpPr>
        <p:spPr>
          <a:xfrm>
            <a:off x="3575050" y="1676400"/>
            <a:ext cx="511175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rmAutofit/>
          </a:bodyPr>
          <a:lstStyle>
            <a:lvl1pPr marL="457200" lvl="0" indent="-397510" algn="l">
              <a:spcBef>
                <a:spcPts val="560"/>
              </a:spcBef>
              <a:spcAft>
                <a:spcPts val="0"/>
              </a:spcAft>
              <a:buSzPts val="2660"/>
              <a:buChar char="⚫"/>
              <a:defRPr sz="2800"/>
            </a:lvl1pPr>
            <a:lvl2pPr marL="914400" lvl="1" indent="-368935" algn="l">
              <a:spcBef>
                <a:spcPts val="520"/>
              </a:spcBef>
              <a:spcAft>
                <a:spcPts val="0"/>
              </a:spcAft>
              <a:buSzPts val="2210"/>
              <a:buChar char="⚫"/>
              <a:defRPr sz="2600"/>
            </a:lvl2pPr>
            <a:lvl3pPr marL="1371600" lvl="2" indent="-335280" algn="l">
              <a:spcBef>
                <a:spcPts val="480"/>
              </a:spcBef>
              <a:spcAft>
                <a:spcPts val="0"/>
              </a:spcAft>
              <a:buSzPts val="1680"/>
              <a:buChar char="⚫"/>
              <a:defRPr sz="2400"/>
            </a:lvl3pPr>
            <a:lvl4pPr marL="1828800" lvl="3" indent="-311150" algn="l">
              <a:spcBef>
                <a:spcPts val="400"/>
              </a:spcBef>
              <a:spcAft>
                <a:spcPts val="0"/>
              </a:spcAft>
              <a:buSzPts val="1300"/>
              <a:buChar char="⚫"/>
              <a:defRPr sz="2000"/>
            </a:lvl4pPr>
            <a:lvl5pPr marL="2286000" lvl="4" indent="-302895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캡션 있는 그림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/>
          <p:nvPr/>
        </p:nvSpPr>
        <p:spPr>
          <a:xfrm rot="-10380000" flipH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500" dir="7500000" sx="98500" sy="100080" kx="100000" algn="tl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68" name="Google Shape;68;p10"/>
          <p:cNvSpPr/>
          <p:nvPr/>
        </p:nvSpPr>
        <p:spPr>
          <a:xfrm rot="-10380000" flipH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bevel/>
            <a:headEnd type="none" w="sm" len="sm"/>
            <a:tailEnd type="none" w="sm" len="sm"/>
          </a:ln>
          <a:effectLst>
            <a:outerShdw blurRad="19685" dist="6350" dir="12900000" algn="tl" rotWithShape="0">
              <a:srgbClr val="000000">
                <a:alpha val="4666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sz="20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body" idx="1"/>
          </p:nvPr>
        </p:nvSpPr>
        <p:spPr>
          <a:xfrm>
            <a:off x="609600" y="2828785"/>
            <a:ext cx="2209800" cy="217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0" tIns="45700" rIns="45700" bIns="45700" anchor="t" anchorCtr="0">
            <a:normAutofit/>
          </a:bodyPr>
          <a:lstStyle>
            <a:lvl1pPr marL="457200" lvl="0" indent="-228600" algn="l">
              <a:spcBef>
                <a:spcPts val="250"/>
              </a:spcBef>
              <a:spcAft>
                <a:spcPts val="0"/>
              </a:spcAft>
              <a:buSzPts val="1235"/>
              <a:buFont typeface="Constantia"/>
              <a:buNone/>
              <a:defRPr sz="1300"/>
            </a:lvl1pPr>
            <a:lvl2pPr marL="914400" lvl="1" indent="-293369" algn="l">
              <a:spcBef>
                <a:spcPts val="240"/>
              </a:spcBef>
              <a:spcAft>
                <a:spcPts val="0"/>
              </a:spcAft>
              <a:buSzPts val="1020"/>
              <a:buChar char="⚫"/>
              <a:defRPr sz="1200"/>
            </a:lvl2pPr>
            <a:lvl3pPr marL="1371600" lvl="2" indent="-273050" algn="l">
              <a:spcBef>
                <a:spcPts val="200"/>
              </a:spcBef>
              <a:spcAft>
                <a:spcPts val="0"/>
              </a:spcAft>
              <a:buSzPts val="700"/>
              <a:buChar char="⚫"/>
              <a:defRPr sz="1000"/>
            </a:lvl3pPr>
            <a:lvl4pPr marL="1828800" lvl="3" indent="-265747" algn="l">
              <a:spcBef>
                <a:spcPts val="180"/>
              </a:spcBef>
              <a:spcAft>
                <a:spcPts val="0"/>
              </a:spcAft>
              <a:buSzPts val="585"/>
              <a:buChar char="⚫"/>
              <a:defRPr sz="900"/>
            </a:lvl4pPr>
            <a:lvl5pPr marL="2286000" lvl="4" indent="-265747" algn="l">
              <a:spcBef>
                <a:spcPts val="180"/>
              </a:spcBef>
              <a:spcAft>
                <a:spcPts val="0"/>
              </a:spcAft>
              <a:buSzPts val="585"/>
              <a:buChar char="⚫"/>
              <a:defRPr sz="9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sldNum" idx="12"/>
          </p:nvPr>
        </p:nvSpPr>
        <p:spPr>
          <a:xfrm>
            <a:off x="8077200" y="6356350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4" name="Google Shape;74;p10"/>
          <p:cNvSpPr>
            <a:spLocks noGrp="1"/>
          </p:cNvSpPr>
          <p:nvPr>
            <p:ph type="pic" idx="2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lt2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10"/>
          <p:cNvSpPr/>
          <p:nvPr/>
        </p:nvSpPr>
        <p:spPr>
          <a:xfrm rot="10800000" flipH="1">
            <a:off x="-9525" y="5816600"/>
            <a:ext cx="9163050" cy="1041400"/>
          </a:xfrm>
          <a:custGeom>
            <a:avLst/>
            <a:gdLst/>
            <a:ahLst/>
            <a:cxnLst/>
            <a:rect l="l" t="t" r="r" b="b"/>
            <a:pathLst>
              <a:path w="5772" h="656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76" name="Google Shape;76;p10"/>
          <p:cNvSpPr/>
          <p:nvPr/>
        </p:nvSpPr>
        <p:spPr>
          <a:xfrm rot="10800000" flipH="1">
            <a:off x="4381500" y="6219825"/>
            <a:ext cx="4762500" cy="638175"/>
          </a:xfrm>
          <a:custGeom>
            <a:avLst/>
            <a:gdLst/>
            <a:ahLst/>
            <a:cxnLst/>
            <a:rect l="l" t="t" r="r" b="b"/>
            <a:pathLst>
              <a:path w="3000" h="595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body" idx="1"/>
          </p:nvPr>
        </p:nvSpPr>
        <p:spPr>
          <a:xfrm rot="5400000">
            <a:off x="2377440" y="15240"/>
            <a:ext cx="438912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marL="914400" lvl="1" indent="-325755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marL="1828800" lvl="3" indent="-302894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marL="2286000" lvl="4" indent="-302895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 txBox="1">
            <a:spLocks noGrp="1"/>
          </p:cNvSpPr>
          <p:nvPr>
            <p:ph type="title"/>
          </p:nvPr>
        </p:nvSpPr>
        <p:spPr>
          <a:xfrm rot="5400000">
            <a:off x="5052219" y="2491582"/>
            <a:ext cx="5211763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body" idx="1"/>
          </p:nvPr>
        </p:nvSpPr>
        <p:spPr>
          <a:xfrm rot="5400000">
            <a:off x="861219" y="510382"/>
            <a:ext cx="5211763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marL="914400" lvl="1" indent="-325755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marL="1828800" lvl="3" indent="-302894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marL="2286000" lvl="4" indent="-302895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bg>
      <p:bgPr>
        <a:gradFill>
          <a:gsLst>
            <a:gs pos="0">
              <a:srgbClr val="439FD7"/>
            </a:gs>
            <a:gs pos="25000">
              <a:srgbClr val="4397CA"/>
            </a:gs>
            <a:gs pos="100000">
              <a:srgbClr val="00466A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 txBox="1"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75" bIns="0" anchor="b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  <a:defRPr sz="5600" b="1">
                <a:solidFill>
                  <a:srgbClr val="4CE0E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4"/>
          <p:cNvSpPr txBox="1"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rmAutofit/>
          </a:bodyPr>
          <a:lstStyle>
            <a:lvl1pPr marR="45720" lvl="0" algn="r">
              <a:spcBef>
                <a:spcPts val="520"/>
              </a:spcBef>
              <a:spcAft>
                <a:spcPts val="0"/>
              </a:spcAft>
              <a:buSzPts val="247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4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4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3">
            <a:alphaModFix/>
          </a:blip>
          <a:tile tx="0" ty="0" sx="65000" sy="65000" flip="none" algn="tl"/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-9525" y="-7144"/>
            <a:ext cx="9163050" cy="1041400"/>
          </a:xfrm>
          <a:custGeom>
            <a:avLst/>
            <a:gdLst/>
            <a:ahLst/>
            <a:cxnLst/>
            <a:rect l="l" t="t" r="r" b="b"/>
            <a:pathLst>
              <a:path w="5772" h="656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7" name="Google Shape;7;p1"/>
          <p:cNvSpPr/>
          <p:nvPr/>
        </p:nvSpPr>
        <p:spPr>
          <a:xfrm>
            <a:off x="4381500" y="-7144"/>
            <a:ext cx="4762500" cy="638175"/>
          </a:xfrm>
          <a:custGeom>
            <a:avLst/>
            <a:gdLst/>
            <a:ahLst/>
            <a:cxnLst/>
            <a:rect l="l" t="t" r="r" b="b"/>
            <a:pathLst>
              <a:path w="3000" h="595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  <a:defRPr sz="4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5445" algn="l" rtl="0"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⚫"/>
              <a:defRPr sz="26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L="914400" marR="0" lvl="1" indent="-358140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  <a:defRPr sz="24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L="1371600" marR="0" lvl="2" indent="-321944" algn="l" rtl="0"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Noto Sans Symbols"/>
              <a:buChar char="⚫"/>
              <a:defRPr sz="21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L="1828800" marR="0" lvl="3" indent="-302894" algn="l" rtl="0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17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L="2286000" marR="0" lvl="4" indent="-294639" algn="l" rtl="0">
              <a:spcBef>
                <a:spcPts val="320"/>
              </a:spcBef>
              <a:spcAft>
                <a:spcPts val="0"/>
              </a:spcAft>
              <a:buClr>
                <a:schemeClr val="accent4"/>
              </a:buClr>
              <a:buSzPts val="104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L="2743200" marR="0" lvl="5" indent="-320039" algn="l" rtl="0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L="3200400" marR="0" lvl="6" indent="-309879" algn="l" rtl="0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nstantia"/>
              <a:buChar char="•"/>
              <a:defRPr sz="16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L="4114800" marR="0" lvl="8" indent="-317500" algn="l" rtl="0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nstantia"/>
              <a:buChar char="•"/>
              <a:defRPr sz="14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3" name="Google Shape;13;p1"/>
          <p:cNvGrpSpPr/>
          <p:nvPr/>
        </p:nvGrpSpPr>
        <p:grpSpPr>
          <a:xfrm>
            <a:off x="-29294" y="-16113"/>
            <a:ext cx="9198255" cy="1086266"/>
            <a:chOff x="-29322" y="-1971"/>
            <a:chExt cx="9198255" cy="1086266"/>
          </a:xfrm>
        </p:grpSpPr>
        <p:sp>
          <p:nvSpPr>
            <p:cNvPr id="14" name="Google Shape;14;p1"/>
            <p:cNvSpPr/>
            <p:nvPr/>
          </p:nvSpPr>
          <p:spPr>
            <a:xfrm rot="-164308">
              <a:off x="-19045" y="216550"/>
              <a:ext cx="9163050" cy="649224"/>
            </a:xfrm>
            <a:custGeom>
              <a:avLst/>
              <a:gdLst/>
              <a:ahLst/>
              <a:cxnLst/>
              <a:rect l="l" t="t" r="r" b="b"/>
              <a:pathLst>
                <a:path w="5772" h="1055" extrusionOk="0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75" cap="flat" cmpd="sng">
              <a:solidFill>
                <a:srgbClr val="09B6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 rot="-164308">
              <a:off x="-14309" y="290003"/>
              <a:ext cx="9175812" cy="530352"/>
            </a:xfrm>
            <a:custGeom>
              <a:avLst/>
              <a:gdLst/>
              <a:ahLst/>
              <a:cxnLst/>
              <a:rect l="l" t="t" r="r" b="b"/>
              <a:pathLst>
                <a:path w="5766" h="854" extrusionOk="0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tile tx="0" ty="0" sx="65000" sy="65000" flip="none" algn="tl"/>
        </a:blip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/>
          <p:nvPr/>
        </p:nvSpPr>
        <p:spPr>
          <a:xfrm>
            <a:off x="-9525" y="-7144"/>
            <a:ext cx="9163050" cy="1041400"/>
          </a:xfrm>
          <a:custGeom>
            <a:avLst/>
            <a:gdLst/>
            <a:ahLst/>
            <a:cxnLst/>
            <a:rect l="l" t="t" r="r" b="b"/>
            <a:pathLst>
              <a:path w="5772" h="656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4381500" y="-7144"/>
            <a:ext cx="4762500" cy="638175"/>
          </a:xfrm>
          <a:custGeom>
            <a:avLst/>
            <a:gdLst/>
            <a:ahLst/>
            <a:cxnLst/>
            <a:rect l="l" t="t" r="r" b="b"/>
            <a:pathLst>
              <a:path w="3000" h="595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alibri"/>
              <a:buNone/>
              <a:defRPr sz="40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5445" algn="l" rtl="0"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⚫"/>
              <a:defRPr sz="26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L="914400" marR="0" lvl="1" indent="-358140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  <a:defRPr sz="24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L="1371600" marR="0" lvl="2" indent="-321944" algn="l" rtl="0"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Noto Sans Symbols"/>
              <a:buChar char="⚫"/>
              <a:defRPr sz="21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L="1828800" marR="0" lvl="3" indent="-302894" algn="l" rtl="0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170"/>
              <a:buFont typeface="Noto Sans Symbols"/>
              <a:buChar char="⚫"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L="2286000" marR="0" lvl="4" indent="-294639" algn="l" rtl="0">
              <a:spcBef>
                <a:spcPts val="320"/>
              </a:spcBef>
              <a:spcAft>
                <a:spcPts val="0"/>
              </a:spcAft>
              <a:buClr>
                <a:schemeClr val="accent4"/>
              </a:buClr>
              <a:buSzPts val="1040"/>
              <a:buFont typeface="Noto Sans Symbols"/>
              <a:buChar char="⚫"/>
              <a:defRPr sz="16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L="2743200" marR="0" lvl="5" indent="-320039" algn="l" rtl="0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L="3200400" marR="0" lvl="6" indent="-309879" algn="l" rtl="0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nstantia"/>
              <a:buChar char="•"/>
              <a:defRPr sz="16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L="4114800" marR="0" lvl="8" indent="-317500" algn="l" rtl="0">
              <a:spcBef>
                <a:spcPts val="28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onstantia"/>
              <a:buChar char="•"/>
              <a:defRPr sz="14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97" name="Google Shape;97;p13"/>
          <p:cNvGrpSpPr/>
          <p:nvPr/>
        </p:nvGrpSpPr>
        <p:grpSpPr>
          <a:xfrm>
            <a:off x="-29294" y="-16113"/>
            <a:ext cx="9198255" cy="1086266"/>
            <a:chOff x="-29322" y="-1971"/>
            <a:chExt cx="9198255" cy="1086266"/>
          </a:xfrm>
        </p:grpSpPr>
        <p:sp>
          <p:nvSpPr>
            <p:cNvPr id="98" name="Google Shape;98;p13"/>
            <p:cNvSpPr/>
            <p:nvPr/>
          </p:nvSpPr>
          <p:spPr>
            <a:xfrm rot="-164308">
              <a:off x="-19045" y="216550"/>
              <a:ext cx="9163050" cy="649224"/>
            </a:xfrm>
            <a:custGeom>
              <a:avLst/>
              <a:gdLst/>
              <a:ahLst/>
              <a:cxnLst/>
              <a:rect l="l" t="t" r="r" b="b"/>
              <a:pathLst>
                <a:path w="5772" h="1055" extrusionOk="0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75" cap="flat" cmpd="sng">
              <a:solidFill>
                <a:srgbClr val="09B6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99" name="Google Shape;99;p13"/>
            <p:cNvSpPr/>
            <p:nvPr/>
          </p:nvSpPr>
          <p:spPr>
            <a:xfrm rot="-164308">
              <a:off x="-14309" y="290003"/>
              <a:ext cx="9175812" cy="530352"/>
            </a:xfrm>
            <a:custGeom>
              <a:avLst/>
              <a:gdLst/>
              <a:ahLst/>
              <a:cxnLst/>
              <a:rect l="l" t="t" r="r" b="b"/>
              <a:pathLst>
                <a:path w="5766" h="854" extrusionOk="0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 txBox="1"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75" bIns="0" anchor="b" anchorCtr="0">
            <a:normAutofit/>
          </a:bodyPr>
          <a:lstStyle/>
          <a:p>
            <a:r>
              <a:rPr lang="en-US"/>
              <a:t>MoneTV</a:t>
            </a:r>
            <a:r>
              <a:t> Description</a:t>
            </a:r>
          </a:p>
        </p:txBody>
      </p:sp>
      <p:sp>
        <p:nvSpPr>
          <p:cNvPr id="117" name="Google Shape;117;p16"/>
          <p:cNvSpPr txBox="1"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rmAutofit/>
          </a:bodyPr>
          <a:lstStyle/>
          <a:p>
            <a:r>
              <a:t>MATICONE LTD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/>
          <a:p>
            <a:r>
              <a:t>Revision History</a:t>
            </a:r>
          </a:p>
        </p:txBody>
      </p:sp>
      <p:graphicFrame>
        <p:nvGraphicFramePr>
          <p:cNvPr id="123" name="Google Shape;123;p17"/>
          <p:cNvGraphicFramePr/>
          <p:nvPr>
            <p:extLst>
              <p:ext uri="{D42A27DB-BD31-4B8C-83A1-F6EECF244321}">
                <p14:modId xmlns:p14="http://schemas.microsoft.com/office/powerpoint/2010/main" val="1686426847"/>
              </p:ext>
            </p:extLst>
          </p:nvPr>
        </p:nvGraphicFramePr>
        <p:xfrm>
          <a:off x="457200" y="1935163"/>
          <a:ext cx="8229600" cy="1198910"/>
        </p:xfrm>
        <a:graphic>
          <a:graphicData uri="http://schemas.openxmlformats.org/drawingml/2006/table">
            <a:tbl>
              <a:tblPr firstRow="1" bandRow="1">
                <a:noFill/>
                <a:tableStyleId>{25375610-7600-4973-BF82-191DA6F836F1}</a:tableStyleId>
              </a:tblPr>
              <a:tblGrid>
                <a:gridCol w="1090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r>
                        <a:rPr sz="1200" b="1"/>
                        <a:t>Version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r>
                        <a:rPr sz="1200" b="1"/>
                        <a:t>Date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r>
                        <a:rPr sz="1200" b="1"/>
                        <a:t>Description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r>
                        <a:rPr sz="1200" b="1"/>
                        <a:t>Author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r>
                        <a:rPr sz="1200" b="0"/>
                        <a:t>1.0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r>
                        <a:rPr sz="1200" b="0"/>
                        <a:t>March 19, 2026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r>
                        <a:rPr sz="1200" b="0"/>
                        <a:t>Initial Samsung TV Seller Office UI description for GoMaxShort.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r>
                        <a:rPr lang="en-US" sz="1200" b="0" dirty="0"/>
                        <a:t>bd</a:t>
                      </a:r>
                      <a:endParaRPr sz="1200" b="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/>
          <a:p>
            <a:r>
              <a:t>Contents</a:t>
            </a:r>
          </a:p>
        </p:txBody>
      </p:sp>
      <p:sp>
        <p:nvSpPr>
          <p:cNvPr id="129" name="Google Shape;129;p18"/>
          <p:cNvSpPr txBox="1"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274320" algn="l" rtl="0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sz="2400" b="0">
                <a:solidFill>
                  <a:srgbClr val="222222"/>
                </a:solidFill>
              </a:rPr>
              <a:t>UI Structure</a:t>
            </a:r>
            <a:endParaRPr/>
          </a:p>
          <a:p>
            <a:r>
              <a:rPr sz="2400" b="0">
                <a:solidFill>
                  <a:srgbClr val="222222"/>
                </a:solidFill>
              </a:rPr>
              <a:t>Usage Scenario</a:t>
            </a:r>
          </a:p>
          <a:p>
            <a:r>
              <a:rPr sz="2400" b="0">
                <a:solidFill>
                  <a:srgbClr val="222222"/>
                </a:solidFill>
              </a:rPr>
              <a:t>Menu &amp; Function Description</a:t>
            </a:r>
          </a:p>
          <a:p>
            <a:r>
              <a:rPr sz="2400" b="0">
                <a:solidFill>
                  <a:srgbClr val="222222"/>
                </a:solidFill>
              </a:rPr>
              <a:t>Key Policy</a:t>
            </a:r>
          </a:p>
          <a:p>
            <a:r>
              <a:rPr sz="2400" b="0">
                <a:solidFill>
                  <a:srgbClr val="222222"/>
                </a:solidFill>
              </a:rPr>
              <a:t>How to Change Languages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/>
          <a:p>
            <a:r>
              <a:t>UI Structure</a:t>
            </a:r>
          </a:p>
        </p:txBody>
      </p:sp>
      <p:sp>
        <p:nvSpPr>
          <p:cNvPr id="135" name="Google Shape;135;p19"/>
          <p:cNvSpPr txBox="1"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274320" algn="l" rtl="0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sz="1800" b="0">
                <a:solidFill>
                  <a:srgbClr val="222222"/>
                </a:solidFill>
              </a:rPr>
              <a:t>Whole UI Structure</a:t>
            </a:r>
            <a:endParaRPr/>
          </a:p>
          <a:p>
            <a:endParaRPr/>
          </a:p>
          <a:p>
            <a:r>
              <a:rPr sz="1800" b="0">
                <a:solidFill>
                  <a:srgbClr val="222222"/>
                </a:solidFill>
              </a:rPr>
              <a:t>GoMaxShort is a TV-oriented short-drama application.</a:t>
            </a:r>
          </a:p>
          <a:p>
            <a:r>
              <a:rPr sz="1800" b="0">
                <a:solidFill>
                  <a:srgbClr val="222222"/>
                </a:solidFill>
              </a:rPr>
              <a:t>The main review flow is:</a:t>
            </a:r>
          </a:p>
          <a:p>
            <a:r>
              <a:rPr sz="1800" b="0">
                <a:solidFill>
                  <a:srgbClr val="222222"/>
                </a:solidFill>
              </a:rPr>
              <a:t>Home -&gt; Detail -&gt; Player</a:t>
            </a:r>
          </a:p>
          <a:p>
            <a:r>
              <a:rPr sz="1800" b="0">
                <a:solidFill>
                  <a:srgbClr val="222222"/>
                </a:solidFill>
              </a:rPr>
              <a:t>Discover -&gt; Detail -&gt; Player</a:t>
            </a:r>
          </a:p>
          <a:p>
            <a:endParaRPr sz="1800" b="0">
              <a:solidFill>
                <a:srgbClr val="222222"/>
              </a:solidFill>
            </a:endParaRPr>
          </a:p>
          <a:p>
            <a:r>
              <a:rPr sz="1800" b="0">
                <a:solidFill>
                  <a:srgbClr val="222222"/>
                </a:solidFill>
              </a:rPr>
              <a:t>Core screens in the current release:</a:t>
            </a:r>
          </a:p>
          <a:p>
            <a:r>
              <a:rPr sz="1800" b="0">
                <a:solidFill>
                  <a:srgbClr val="222222"/>
                </a:solidFill>
              </a:rPr>
              <a:t>- Home page for featured and browsable drama rows</a:t>
            </a:r>
          </a:p>
          <a:p>
            <a:r>
              <a:rPr sz="1800" b="0">
                <a:solidFill>
                  <a:srgbClr val="222222"/>
                </a:solidFill>
              </a:rPr>
              <a:t>- Discover page for trending, genre, and new content sections</a:t>
            </a:r>
          </a:p>
          <a:p>
            <a:r>
              <a:rPr sz="1800" b="0">
                <a:solidFill>
                  <a:srgbClr val="222222"/>
                </a:solidFill>
              </a:rPr>
              <a:t>- Detail page for title information and episode selection</a:t>
            </a:r>
          </a:p>
          <a:p>
            <a:r>
              <a:rPr sz="1800" b="0">
                <a:solidFill>
                  <a:srgbClr val="222222"/>
                </a:solidFill>
              </a:rPr>
              <a:t>- Player page for episode playback and switching episodes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/>
          <a:p>
            <a:r>
              <a:t>UI Structure - Flow Graph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1097280" y="1737360"/>
            <a:ext cx="1280160" cy="594360"/>
          </a:xfrm>
          <a:prstGeom prst="roundRect">
            <a:avLst/>
          </a:prstGeom>
          <a:solidFill>
            <a:srgbClr val="5A7DD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Launch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2423160" y="17830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555555"/>
                </a:solidFill>
              </a:rPr>
              <a:t>-&gt;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2834640" y="1737360"/>
            <a:ext cx="1463040" cy="594360"/>
          </a:xfrm>
          <a:prstGeom prst="roundRect">
            <a:avLst/>
          </a:prstGeom>
          <a:solidFill>
            <a:srgbClr val="3FA77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Home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343400" y="17830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555555"/>
                </a:solidFill>
              </a:rPr>
              <a:t>&lt;-&gt;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4846320" y="1737360"/>
            <a:ext cx="1645920" cy="594360"/>
          </a:xfrm>
          <a:prstGeom prst="roundRect">
            <a:avLst/>
          </a:prstGeom>
          <a:solidFill>
            <a:srgbClr val="3FA77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Discover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429000" y="251460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555555"/>
                </a:solidFill>
              </a:rPr>
              <a:t>v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2926080" y="2926080"/>
            <a:ext cx="1645920" cy="640080"/>
          </a:xfrm>
          <a:prstGeom prst="roundRect">
            <a:avLst/>
          </a:prstGeom>
          <a:solidFill>
            <a:srgbClr val="E08A3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Detail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657600" y="361188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555555"/>
                </a:solidFill>
              </a:rPr>
              <a:t>v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2834640" y="3977639"/>
            <a:ext cx="1828800" cy="685800"/>
          </a:xfrm>
          <a:prstGeom prst="roundRect">
            <a:avLst/>
          </a:prstGeom>
          <a:solidFill>
            <a:srgbClr val="B94E5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Player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/>
          <a:p>
            <a:r>
              <a:t>UI Structure - Depth Navigation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051560" y="1828800"/>
            <a:ext cx="649224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Depth 1 : Home, Discover</a:t>
            </a:r>
          </a:p>
          <a:p>
            <a:r>
              <a:rPr sz="2000" b="0">
                <a:solidFill>
                  <a:srgbClr val="222222"/>
                </a:solidFill>
              </a:rPr>
              <a:t>Depth 2 : Selected drama detail page</a:t>
            </a:r>
          </a:p>
          <a:p>
            <a:r>
              <a:rPr sz="2000" b="0">
                <a:solidFill>
                  <a:srgbClr val="222222"/>
                </a:solidFill>
              </a:rPr>
              <a:t>Depth 3 : Episode playback page</a:t>
            </a:r>
          </a:p>
          <a:p>
            <a:endParaRPr sz="2000" b="0">
              <a:solidFill>
                <a:srgbClr val="222222"/>
              </a:solidFill>
            </a:endParaRPr>
          </a:p>
          <a:p>
            <a:r>
              <a:rPr sz="2000" b="0">
                <a:solidFill>
                  <a:srgbClr val="222222"/>
                </a:solidFill>
              </a:rPr>
              <a:t>Global UI elements:</a:t>
            </a:r>
          </a:p>
          <a:p>
            <a:r>
              <a:rPr sz="2000" b="0">
                <a:solidFill>
                  <a:srgbClr val="222222"/>
                </a:solidFill>
              </a:rPr>
              <a:t>- Header navigation</a:t>
            </a:r>
          </a:p>
          <a:p>
            <a:r>
              <a:rPr sz="2000" b="0">
                <a:solidFill>
                  <a:srgbClr val="222222"/>
                </a:solidFill>
              </a:rPr>
              <a:t>- Search field visual element</a:t>
            </a:r>
          </a:p>
          <a:p>
            <a:r>
              <a:rPr sz="2000" b="0">
                <a:solidFill>
                  <a:srgbClr val="222222"/>
                </a:solidFill>
              </a:rPr>
              <a:t>- Focus-based card navigation for remote control</a:t>
            </a:r>
          </a:p>
          <a:p>
            <a:endParaRPr sz="2000" b="0">
              <a:solidFill>
                <a:srgbClr val="222222"/>
              </a:solidFill>
            </a:endParaRPr>
          </a:p>
          <a:p>
            <a:r>
              <a:rPr sz="2000" b="0">
                <a:solidFill>
                  <a:srgbClr val="222222"/>
                </a:solidFill>
              </a:rPr>
              <a:t>Contextual UI elements:</a:t>
            </a:r>
          </a:p>
          <a:p>
            <a:r>
              <a:rPr sz="2000" b="0">
                <a:solidFill>
                  <a:srgbClr val="222222"/>
                </a:solidFill>
              </a:rPr>
              <a:t>- Episode list on Detail page</a:t>
            </a:r>
          </a:p>
          <a:p>
            <a:r>
              <a:rPr sz="2000" b="0">
                <a:solidFill>
                  <a:srgbClr val="222222"/>
                </a:solidFill>
              </a:rPr>
              <a:t>- Episode sidebar and playback controls on Player page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2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/>
          <a:p>
            <a:r>
              <a:t>Usage Scenario</a:t>
            </a:r>
          </a:p>
        </p:txBody>
      </p:sp>
      <p:sp>
        <p:nvSpPr>
          <p:cNvPr id="181" name="Google Shape;181;p22"/>
          <p:cNvSpPr txBox="1"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274320" algn="l" rtl="0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sz="1800" b="0">
                <a:solidFill>
                  <a:srgbClr val="222222"/>
                </a:solidFill>
              </a:rPr>
              <a:t>All steps for using the app are described below.</a:t>
            </a:r>
            <a:endParaRPr/>
          </a:p>
          <a:p>
            <a:endParaRPr/>
          </a:p>
          <a:p>
            <a:r>
              <a:rPr sz="1800" b="0">
                <a:solidFill>
                  <a:srgbClr val="222222"/>
                </a:solidFill>
              </a:rPr>
              <a:t>1. Launch the app. The Home page is displayed.</a:t>
            </a:r>
          </a:p>
          <a:p>
            <a:r>
              <a:rPr sz="1800" b="0">
                <a:solidFill>
                  <a:srgbClr val="222222"/>
                </a:solidFill>
              </a:rPr>
              <a:t>2. Move focus with the remote directional keys.</a:t>
            </a:r>
          </a:p>
          <a:p>
            <a:r>
              <a:rPr sz="1800" b="0">
                <a:solidFill>
                  <a:srgbClr val="222222"/>
                </a:solidFill>
              </a:rPr>
              <a:t>3. Select a drama card from Home or Discover.</a:t>
            </a:r>
          </a:p>
          <a:p>
            <a:r>
              <a:rPr sz="1800" b="0">
                <a:solidFill>
                  <a:srgbClr val="222222"/>
                </a:solidFill>
              </a:rPr>
              <a:t>4. Open the Detail page and review title information.</a:t>
            </a:r>
          </a:p>
          <a:p>
            <a:r>
              <a:rPr sz="1800" b="0">
                <a:solidFill>
                  <a:srgbClr val="222222"/>
                </a:solidFill>
              </a:rPr>
              <a:t>5. Press Play Episode 1 or select an episode card.</a:t>
            </a:r>
          </a:p>
          <a:p>
            <a:r>
              <a:rPr sz="1800" b="0">
                <a:solidFill>
                  <a:srgbClr val="222222"/>
                </a:solidFill>
              </a:rPr>
              <a:t>6. The Player page opens and playback starts.</a:t>
            </a:r>
          </a:p>
          <a:p>
            <a:r>
              <a:rPr sz="1800" b="0">
                <a:solidFill>
                  <a:srgbClr val="222222"/>
                </a:solidFill>
              </a:rPr>
              <a:t>7. Use playback keys such as Play/Pause, Rewind, Fast Forward, and Back.</a:t>
            </a:r>
          </a:p>
          <a:p>
            <a:endParaRPr sz="1800" b="0">
              <a:solidFill>
                <a:srgbClr val="222222"/>
              </a:solidFill>
            </a:endParaRPr>
          </a:p>
          <a:p>
            <a:r>
              <a:rPr sz="1800" b="0">
                <a:solidFill>
                  <a:srgbClr val="222222"/>
                </a:solidFill>
              </a:rPr>
              <a:t>The current release does not require login, activation, or payment.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3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/>
          <a:p>
            <a:r>
              <a:t>Usage Scenario</a:t>
            </a:r>
          </a:p>
        </p:txBody>
      </p:sp>
      <p:sp>
        <p:nvSpPr>
          <p:cNvPr id="187" name="Google Shape;187;p23"/>
          <p:cNvSpPr txBox="1"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274320" algn="l" rtl="0">
              <a:spcBef>
                <a:spcPts val="0"/>
              </a:spcBef>
              <a:spcAft>
                <a:spcPts val="0"/>
              </a:spcAft>
              <a:buSzPts val="2280"/>
              <a:buChar char="⚫"/>
            </a:pPr>
            <a:r>
              <a:rPr sz="1800" b="0">
                <a:solidFill>
                  <a:srgbClr val="222222"/>
                </a:solidFill>
              </a:rPr>
              <a:t>Review flow used for this submission:</a:t>
            </a:r>
            <a:endParaRPr sz="2400" i="1">
              <a:solidFill>
                <a:srgbClr val="54A838"/>
              </a:solidFill>
            </a:endParaRPr>
          </a:p>
          <a:p>
            <a:r>
              <a:rPr sz="1800" b="0">
                <a:solidFill>
                  <a:srgbClr val="222222"/>
                </a:solidFill>
              </a:rPr>
              <a:t>1. Launch on Home</a:t>
            </a:r>
          </a:p>
          <a:p>
            <a:r>
              <a:rPr sz="1800" b="0">
                <a:solidFill>
                  <a:srgbClr val="222222"/>
                </a:solidFill>
              </a:rPr>
              <a:t>2. Browse drama content</a:t>
            </a:r>
          </a:p>
          <a:p>
            <a:r>
              <a:rPr sz="1800" b="0">
                <a:solidFill>
                  <a:srgbClr val="222222"/>
                </a:solidFill>
              </a:rPr>
              <a:t>3. Open a drama detail page</a:t>
            </a:r>
          </a:p>
          <a:p>
            <a:r>
              <a:rPr sz="1800" b="0">
                <a:solidFill>
                  <a:srgbClr val="222222"/>
                </a:solidFill>
              </a:rPr>
              <a:t>4. Start playback in the player page</a:t>
            </a:r>
          </a:p>
          <a:p>
            <a:endParaRPr sz="1800" b="0">
              <a:solidFill>
                <a:srgbClr val="222222"/>
              </a:solidFill>
            </a:endParaRPr>
          </a:p>
          <a:p>
            <a:r>
              <a:rPr sz="1800" b="0">
                <a:solidFill>
                  <a:srgbClr val="222222"/>
                </a:solidFill>
              </a:rPr>
              <a:t>No account login is required.</a:t>
            </a:r>
          </a:p>
          <a:p>
            <a:r>
              <a:rPr sz="1800" b="0">
                <a:solidFill>
                  <a:srgbClr val="222222"/>
                </a:solidFill>
              </a:rPr>
              <a:t>No in-app purchase is required.</a:t>
            </a:r>
          </a:p>
        </p:txBody>
      </p:sp>
      <p:pic>
        <p:nvPicPr>
          <p:cNvPr id="188" name="Picture 187" descr="07-usage-scenario-coll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427" y="2928934"/>
            <a:ext cx="6873159" cy="392906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4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/>
          <a:p>
            <a:r>
              <a:t>Menu &amp; Function Description</a:t>
            </a:r>
          </a:p>
        </p:txBody>
      </p:sp>
      <p:sp>
        <p:nvSpPr>
          <p:cNvPr id="194" name="Google Shape;194;p24"/>
          <p:cNvSpPr txBox="1"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274320" algn="l" rtl="0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sz="1800" b="0">
                <a:solidFill>
                  <a:srgbClr val="222222"/>
                </a:solidFill>
              </a:rPr>
              <a:t>Main menus and functions in the current release:</a:t>
            </a:r>
            <a:endParaRPr i="1">
              <a:solidFill>
                <a:srgbClr val="54A838"/>
              </a:solidFill>
            </a:endParaRPr>
          </a:p>
          <a:p>
            <a:endParaRPr i="1">
              <a:solidFill>
                <a:srgbClr val="54A838"/>
              </a:solidFill>
            </a:endParaRPr>
          </a:p>
          <a:p>
            <a:r>
              <a:rPr sz="1800" b="0">
                <a:solidFill>
                  <a:srgbClr val="222222"/>
                </a:solidFill>
              </a:rPr>
              <a:t>Home : shows featured content and browsable drama rows.</a:t>
            </a:r>
          </a:p>
          <a:p>
            <a:r>
              <a:rPr sz="1800" b="0">
                <a:solidFill>
                  <a:srgbClr val="222222"/>
                </a:solidFill>
              </a:rPr>
              <a:t>Discover : shows trending, genre, and new-this-week sections.</a:t>
            </a:r>
          </a:p>
          <a:p>
            <a:r>
              <a:rPr sz="1800" b="0">
                <a:solidFill>
                  <a:srgbClr val="222222"/>
                </a:solidFill>
              </a:rPr>
              <a:t>Detail : shows title metadata, description, episode list, and related content.</a:t>
            </a:r>
          </a:p>
          <a:p>
            <a:r>
              <a:rPr sz="1800" b="0">
                <a:solidFill>
                  <a:srgbClr val="222222"/>
                </a:solidFill>
              </a:rPr>
              <a:t>Player : plays the selected episode and allows episode switching.</a:t>
            </a:r>
          </a:p>
          <a:p>
            <a:endParaRPr sz="1800" b="0">
              <a:solidFill>
                <a:srgbClr val="222222"/>
              </a:solidFill>
            </a:endParaRPr>
          </a:p>
          <a:p>
            <a:r>
              <a:rPr sz="1800" b="0">
                <a:solidFill>
                  <a:srgbClr val="222222"/>
                </a:solidFill>
              </a:rPr>
              <a:t>The app is optimized for Samsung TV remote-control navigation.</a:t>
            </a:r>
          </a:p>
        </p:txBody>
      </p:sp>
      <p:pic>
        <p:nvPicPr>
          <p:cNvPr id="195" name="Picture 194" descr="08-menu-function-coll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2471236"/>
            <a:ext cx="8064896" cy="367240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5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/>
          <a:p>
            <a:r>
              <a:t>Key Policy</a:t>
            </a:r>
          </a:p>
        </p:txBody>
      </p:sp>
      <p:sp>
        <p:nvSpPr>
          <p:cNvPr id="201" name="Google Shape;201;p25"/>
          <p:cNvSpPr txBox="1"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274320" algn="l" rtl="0">
              <a:spcBef>
                <a:spcPts val="0"/>
              </a:spcBef>
              <a:spcAft>
                <a:spcPts val="0"/>
              </a:spcAft>
              <a:buSzPts val="2090"/>
              <a:buChar char="⚫"/>
            </a:pPr>
            <a:r>
              <a:rPr sz="1800" b="0">
                <a:solidFill>
                  <a:srgbClr val="222222"/>
                </a:solidFill>
              </a:rPr>
              <a:t>Supported remote-key behavior in the current release.</a:t>
            </a:r>
            <a:endParaRPr sz="2200" i="1">
              <a:solidFill>
                <a:srgbClr val="54A838"/>
              </a:solidFill>
            </a:endParaRPr>
          </a:p>
        </p:txBody>
      </p:sp>
      <p:graphicFrame>
        <p:nvGraphicFramePr>
          <p:cNvPr id="202" name="Google Shape;202;p25"/>
          <p:cNvGraphicFramePr/>
          <p:nvPr/>
        </p:nvGraphicFramePr>
        <p:xfrm>
          <a:off x="539552" y="24928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{F0D7D541-CF8F-4543-9F64-9DD65BD08CB1}</a:tableStyleId>
              </a:tblPr>
              <a:tblGrid>
                <a:gridCol w="139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8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6375">
                <a:tc>
                  <a:txBody>
                    <a:bodyPr/>
                    <a:lstStyle/>
                    <a:p>
                      <a:r>
                        <a:rPr sz="1100" b="1"/>
                        <a:t>Button</a:t>
                      </a:r>
                    </a:p>
                  </a:txBody>
                  <a:tcPr marL="36000" marR="36000" marT="36000" marB="72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1"/>
                        <a:t>Action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1"/>
                        <a:t>Remarks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000">
                <a:tc>
                  <a:txBody>
                    <a:bodyPr/>
                    <a:lstStyle/>
                    <a:p>
                      <a:r>
                        <a:rPr sz="1100" b="0"/>
                        <a:t>ENTER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Select focused item / open page / start playback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Used across Home, Discover, Detail, and Player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000">
                <a:tc>
                  <a:txBody>
                    <a:bodyPr/>
                    <a:lstStyle/>
                    <a:p>
                      <a:r>
                        <a:rPr sz="1100" b="0"/>
                        <a:t>UP / DOWN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Move focus vertically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Focus-based navigation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000">
                <a:tc>
                  <a:txBody>
                    <a:bodyPr/>
                    <a:lstStyle/>
                    <a:p>
                      <a:r>
                        <a:rPr sz="1100" b="0"/>
                        <a:t>LEFT / RIGHT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Move focus horizontally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Focus-based navigation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000">
                <a:tc>
                  <a:txBody>
                    <a:bodyPr/>
                    <a:lstStyle/>
                    <a:p>
                      <a:r>
                        <a:rPr sz="1100" b="0"/>
                        <a:t>BACK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Return to previous screen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Mapped to Samsung remote back key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000">
                <a:tc>
                  <a:txBody>
                    <a:bodyPr/>
                    <a:lstStyle/>
                    <a:p>
                      <a:r>
                        <a:rPr sz="1100" b="0"/>
                        <a:t>PLAY / PAUSE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Control playback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Used on Player page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9000">
                <a:tc>
                  <a:txBody>
                    <a:bodyPr/>
                    <a:lstStyle/>
                    <a:p>
                      <a:r>
                        <a:rPr sz="1100" b="0"/>
                        <a:t>FAST FORWARD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Seek forward 10 seconds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Used on Player page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9000">
                <a:tc>
                  <a:txBody>
                    <a:bodyPr/>
                    <a:lstStyle/>
                    <a:p>
                      <a:r>
                        <a:rPr sz="1100" b="0"/>
                        <a:t>REWIND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Seek backward 10 seconds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Used on Player page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9000">
                <a:tc>
                  <a:txBody>
                    <a:bodyPr/>
                    <a:lstStyle/>
                    <a:p>
                      <a:r>
                        <a:rPr sz="1100" b="0"/>
                        <a:t>EXIT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Exit application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Handled by Samsung TV environment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9000">
                <a:tc>
                  <a:txBody>
                    <a:bodyPr/>
                    <a:lstStyle/>
                    <a:p>
                      <a:r>
                        <a:rPr sz="1100" b="0"/>
                        <a:t>CH. UP / DOWN / COLOR KEYS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N/R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No dedicated function in current release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6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/>
          <a:p>
            <a:r>
              <a:t>How to Change Languages</a:t>
            </a:r>
          </a:p>
        </p:txBody>
      </p:sp>
      <p:graphicFrame>
        <p:nvGraphicFramePr>
          <p:cNvPr id="208" name="Google Shape;208;p26"/>
          <p:cNvGraphicFramePr/>
          <p:nvPr/>
        </p:nvGraphicFramePr>
        <p:xfrm>
          <a:off x="467544" y="1935163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{25375610-7600-4973-BF82-191DA6F836F1}</a:tableStyleId>
              </a:tblPr>
              <a:tblGrid>
                <a:gridCol w="195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67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7150">
                <a:tc>
                  <a:txBody>
                    <a:bodyPr/>
                    <a:lstStyle/>
                    <a:p>
                      <a:r>
                        <a:rPr sz="1200" b="1"/>
                        <a:t>Items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r>
                        <a:rPr sz="1200" b="1"/>
                        <a:t>Contents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50">
                <a:tc>
                  <a:txBody>
                    <a:bodyPr/>
                    <a:lstStyle/>
                    <a:p>
                      <a:r>
                        <a:rPr sz="1200" b="0"/>
                        <a:t>Language support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r>
                        <a:rPr sz="1200" b="0"/>
                        <a:t>The current release provides English UI only. There is no in-app language switch in this version.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흐름">
  <a:themeElements>
    <a:clrScheme name="흐름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흐름">
  <a:themeElements>
    <a:clrScheme name="흐름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556</Words>
  <Application>Microsoft Office PowerPoint</Application>
  <PresentationFormat>全屏显示(4:3)</PresentationFormat>
  <Paragraphs>120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17" baseType="lpstr">
      <vt:lpstr>Constantia</vt:lpstr>
      <vt:lpstr>Calibri</vt:lpstr>
      <vt:lpstr>Arial</vt:lpstr>
      <vt:lpstr>Noto Sans Symbols</vt:lpstr>
      <vt:lpstr>흐름</vt:lpstr>
      <vt:lpstr>흐름</vt:lpstr>
      <vt:lpstr>MoneTV Description</vt:lpstr>
      <vt:lpstr>Revision History</vt:lpstr>
      <vt:lpstr>Contents</vt:lpstr>
      <vt:lpstr>UI Structure</vt:lpstr>
      <vt:lpstr>UI Structure - Flow Graph</vt:lpstr>
      <vt:lpstr>UI Structure - Depth Navigation</vt:lpstr>
      <vt:lpstr>Usage Scenario</vt:lpstr>
      <vt:lpstr>Usage Scenario</vt:lpstr>
      <vt:lpstr>Menu &amp; Function Description</vt:lpstr>
      <vt:lpstr>Key Policy</vt:lpstr>
      <vt:lpstr>How to Change Languages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oneting zhang</cp:lastModifiedBy>
  <cp:revision>1</cp:revision>
  <dcterms:modified xsi:type="dcterms:W3CDTF">2026-03-19T07:49:45Z</dcterms:modified>
</cp:coreProperties>
</file>