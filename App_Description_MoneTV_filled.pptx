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61" r:id="rId2"/>
  </p:sldMasterIdLst>
  <p:notesMasterIdLst>
    <p:notesMasterId r:id="rId15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6" r:id="rId13"/>
    <p:sldId id="267" r:id="rId14"/>
  </p:sldIdLst>
  <p:sldSz cx="9144000" cy="6858000" type="screen4x3"/>
  <p:notesSz cx="6858000" cy="9144000"/>
  <p:embeddedFontLst>
    <p:embeddedFont>
      <p:font typeface="Constantia" panose="02030602050306030303" pitchFamily="18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默认节" id="{D2195DBF-0644-49C4-A861-ED347329731E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8"/>
          </p14:sldIdLst>
        </p14:section>
        <p14:section name="无标题节" id="{16519922-38BD-463B-8EA7-CF0E5631AAB4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5375610-7600-4973-BF82-191DA6F836F1}">
  <a:tblStyle styleId="{25375610-7600-4973-BF82-191DA6F836F1}" styleName="Table_0">
    <a:wholeTbl>
      <a:tcTxStyle b="off" i="off">
        <a:font>
          <a:latin typeface="Constantia"/>
          <a:ea typeface="Constantia"/>
          <a:cs typeface="Constantia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BF5"/>
          </a:solidFill>
        </a:fill>
      </a:tcStyle>
    </a:wholeTbl>
    <a:band1H>
      <a:tcTxStyle/>
      <a:tcStyle>
        <a:tcBdr/>
        <a:fill>
          <a:solidFill>
            <a:srgbClr val="CA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0D7D541-CF8F-4543-9F64-9DD65BD08CB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2060" y="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marL="914400" lvl="1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marL="2286000" lvl="4" indent="-302895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sz="5600" b="1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rmAutofit/>
          </a:bodyPr>
          <a:lstStyle>
            <a:lvl1pPr marR="45720" lvl="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Calibri"/>
              <a:buNone/>
              <a:defRPr sz="5600" b="1" cap="none">
                <a:solidFill>
                  <a:srgbClr val="4AE3A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90"/>
              <a:buNone/>
              <a:defRPr sz="22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53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457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5445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marL="914400" lvl="1" indent="-35814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marL="1371600" lvl="2" indent="-3175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marL="2286000" lvl="4" indent="-294639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2"/>
          </p:nvPr>
        </p:nvSpPr>
        <p:spPr>
          <a:xfrm>
            <a:off x="4648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5445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marL="914400" lvl="1" indent="-35814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marL="1371600" lvl="2" indent="-3175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marL="2286000" lvl="4" indent="-294639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28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4645025" y="1859757"/>
            <a:ext cx="4041775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28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3"/>
          </p:nvPr>
        </p:nvSpPr>
        <p:spPr>
          <a:xfrm>
            <a:off x="457200" y="2514600"/>
            <a:ext cx="4040188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lvl="0" indent="-361315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marL="914400" lvl="1" indent="-33655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marL="1828800" lvl="3" indent="-294639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marL="2286000" lvl="4" indent="-294639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4"/>
          </p:nvPr>
        </p:nvSpPr>
        <p:spPr>
          <a:xfrm>
            <a:off x="4645025" y="2514600"/>
            <a:ext cx="4041775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lvl="0" indent="-361315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marL="914400" lvl="1" indent="-33655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marL="1828800" lvl="3" indent="-294639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marL="2286000" lvl="4" indent="-294639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sz="5000" b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sz="2600" b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1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2"/>
          </p:nvPr>
        </p:nvSpPr>
        <p:spPr>
          <a:xfrm>
            <a:off x="3575050" y="1676400"/>
            <a:ext cx="511175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lvl="0" indent="-397510" algn="l"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marL="914400" lvl="1" indent="-368935" algn="l"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marL="1371600" lvl="2" indent="-335280" algn="l"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marL="1828800" lvl="3" indent="-311150" algn="l"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marL="2286000" lvl="4" indent="-302895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캡션 있는 그림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/>
          <p:nvPr/>
        </p:nvSpPr>
        <p:spPr>
          <a:xfrm rot="-10380000" flipH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68" name="Google Shape;68;p10"/>
          <p:cNvSpPr/>
          <p:nvPr/>
        </p:nvSpPr>
        <p:spPr>
          <a:xfrm rot="-10380000" flipH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666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sz="20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body" idx="1"/>
          </p:nvPr>
        </p:nvSpPr>
        <p:spPr>
          <a:xfrm>
            <a:off x="609600" y="2828785"/>
            <a:ext cx="22098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rmAutofit/>
          </a:bodyPr>
          <a:lstStyle>
            <a:lvl1pPr marL="457200" lvl="0" indent="-228600" algn="l">
              <a:spcBef>
                <a:spcPts val="250"/>
              </a:spcBef>
              <a:spcAft>
                <a:spcPts val="0"/>
              </a:spcAft>
              <a:buSzPts val="1235"/>
              <a:buFont typeface="Constantia"/>
              <a:buNone/>
              <a:defRPr sz="1300"/>
            </a:lvl1pPr>
            <a:lvl2pPr marL="914400" lvl="1" indent="-293369" algn="l">
              <a:spcBef>
                <a:spcPts val="240"/>
              </a:spcBef>
              <a:spcAft>
                <a:spcPts val="0"/>
              </a:spcAft>
              <a:buSzPts val="1020"/>
              <a:buChar char="⚫"/>
              <a:defRPr sz="1200"/>
            </a:lvl2pPr>
            <a:lvl3pPr marL="1371600" lvl="2" indent="-273050" algn="l">
              <a:spcBef>
                <a:spcPts val="200"/>
              </a:spcBef>
              <a:spcAft>
                <a:spcPts val="0"/>
              </a:spcAft>
              <a:buSzPts val="700"/>
              <a:buChar char="⚫"/>
              <a:defRPr sz="1000"/>
            </a:lvl3pPr>
            <a:lvl4pPr marL="1828800" lvl="3" indent="-265747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4pPr>
            <a:lvl5pPr marL="2286000" lvl="4" indent="-265747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sldNum" idx="12"/>
          </p:nvPr>
        </p:nvSpPr>
        <p:spPr>
          <a:xfrm>
            <a:off x="8077200" y="6356350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" name="Google Shape;74;p10"/>
          <p:cNvSpPr>
            <a:spLocks noGrp="1"/>
          </p:cNvSpPr>
          <p:nvPr>
            <p:ph type="pic" idx="2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10"/>
          <p:cNvSpPr/>
          <p:nvPr/>
        </p:nvSpPr>
        <p:spPr>
          <a:xfrm rot="10800000" flipH="1">
            <a:off x="-9525" y="5816600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76" name="Google Shape;76;p10"/>
          <p:cNvSpPr/>
          <p:nvPr/>
        </p:nvSpPr>
        <p:spPr>
          <a:xfrm rot="10800000" flipH="1">
            <a:off x="4381500" y="6219825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body" idx="1"/>
          </p:nvPr>
        </p:nvSpPr>
        <p:spPr>
          <a:xfrm rot="5400000">
            <a:off x="2377440" y="15240"/>
            <a:ext cx="438912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marL="914400" lvl="1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marL="2286000" lvl="4" indent="-302895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>
            <a:spLocks noGrp="1"/>
          </p:cNvSpPr>
          <p:nvPr>
            <p:ph type="title"/>
          </p:nvPr>
        </p:nvSpPr>
        <p:spPr>
          <a:xfrm rot="5400000">
            <a:off x="5052219" y="2491582"/>
            <a:ext cx="5211763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 rot="5400000">
            <a:off x="861219" y="510382"/>
            <a:ext cx="5211763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marL="914400" lvl="1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marL="2286000" lvl="4" indent="-302895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sz="5600" b="1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rmAutofit/>
          </a:bodyPr>
          <a:lstStyle>
            <a:lvl1pPr marR="45720" lvl="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4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>
            <a:alphaModFix/>
          </a:blip>
          <a:tile tx="0" ty="0" sx="65000" sy="65000" flip="none" algn="tl"/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-9525" y="-7144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4381500" y="-7144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sz="4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5445" algn="l" rtl="0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sz="2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914400" marR="0" lvl="1" indent="-35814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sz="24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1371600" marR="0" lvl="2" indent="-321944" algn="l" rtl="0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sz="21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1828800" marR="0" lvl="3" indent="-302894" algn="l" rtl="0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17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2286000" marR="0" lvl="4" indent="-294639" algn="l" rtl="0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04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2743200" marR="0" lvl="5" indent="-320039" algn="l" rtl="0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3200400" marR="0" lvl="6" indent="-309879" algn="l" rtl="0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sz="1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4114800" marR="0" lvl="8" indent="-317500" algn="l" rtl="0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sz="14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" name="Google Shape;13;p1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14" name="Google Shape;14;p1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avLst/>
              <a:gdLst/>
              <a:ahLst/>
              <a:cxnLst/>
              <a:rect l="l" t="t" r="r" b="b"/>
              <a:pathLst>
                <a:path w="5772" h="1055" extrusionOk="0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75" cap="flat" cmpd="sng">
              <a:solidFill>
                <a:srgbClr val="09B6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avLst/>
              <a:gdLst/>
              <a:ahLst/>
              <a:cxnLst/>
              <a:rect l="l" t="t" r="r" b="b"/>
              <a:pathLst>
                <a:path w="5766" h="854" extrusionOk="0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65000" sy="65000" flip="none" algn="tl"/>
        </a:blip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/>
          <p:nvPr/>
        </p:nvSpPr>
        <p:spPr>
          <a:xfrm>
            <a:off x="-9525" y="-7144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4381500" y="-7144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alibri"/>
              <a:buNone/>
              <a:defRPr sz="4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5445" algn="l" rtl="0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sz="26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914400" marR="0" lvl="1" indent="-35814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sz="24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1371600" marR="0" lvl="2" indent="-321944" algn="l" rtl="0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sz="21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1828800" marR="0" lvl="3" indent="-302894" algn="l" rtl="0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170"/>
              <a:buFont typeface="Noto Sans Symbols"/>
              <a:buChar char="⚫"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2286000" marR="0" lvl="4" indent="-294639" algn="l" rtl="0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040"/>
              <a:buFont typeface="Noto Sans Symbols"/>
              <a:buChar char="⚫"/>
              <a:defRPr sz="16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2743200" marR="0" lvl="5" indent="-320039" algn="l" rtl="0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3200400" marR="0" lvl="6" indent="-309879" algn="l" rtl="0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nstantia"/>
              <a:buChar char="•"/>
              <a:defRPr sz="16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4114800" marR="0" lvl="8" indent="-317500" algn="l" rtl="0"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onstantia"/>
              <a:buChar char="•"/>
              <a:defRPr sz="14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97" name="Google Shape;97;p13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98" name="Google Shape;98;p13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avLst/>
              <a:gdLst/>
              <a:ahLst/>
              <a:cxnLst/>
              <a:rect l="l" t="t" r="r" b="b"/>
              <a:pathLst>
                <a:path w="5772" h="1055" extrusionOk="0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75" cap="flat" cmpd="sng">
              <a:solidFill>
                <a:srgbClr val="09B6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99" name="Google Shape;99;p13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avLst/>
              <a:gdLst/>
              <a:ahLst/>
              <a:cxnLst/>
              <a:rect l="l" t="t" r="r" b="b"/>
              <a:pathLst>
                <a:path w="5766" h="854" extrusionOk="0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/>
          <a:p>
            <a:r>
              <a:t>MoneTV Description</a:t>
            </a:r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rmAutofit/>
          </a:bodyPr>
          <a:lstStyle/>
          <a:p>
            <a:r>
              <a:t>MATICONE LTD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Revision History</a:t>
            </a:r>
          </a:p>
        </p:txBody>
      </p:sp>
      <p:graphicFrame>
        <p:nvGraphicFramePr>
          <p:cNvPr id="123" name="Google Shape;123;p17"/>
          <p:cNvGraphicFramePr/>
          <p:nvPr/>
        </p:nvGraphicFramePr>
        <p:xfrm>
          <a:off x="457200" y="1935163"/>
          <a:ext cx="8229600" cy="1198910"/>
        </p:xfrm>
        <a:graphic>
          <a:graphicData uri="http://schemas.openxmlformats.org/drawingml/2006/table">
            <a:tbl>
              <a:tblPr firstRow="1" bandRow="1">
                <a:noFill/>
                <a:tableStyleId>{25375610-7600-4973-BF82-191DA6F836F1}</a:tableStyleId>
              </a:tblPr>
              <a:tblGrid>
                <a:gridCol w="109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r>
                        <a:rPr sz="1200" b="1"/>
                        <a:t>Version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1"/>
                        <a:t>Date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1"/>
                        <a:t>Description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1"/>
                        <a:t>Author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r>
                        <a:rPr sz="1200" b="0"/>
                        <a:t>1.0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0"/>
                        <a:t>March 19, 2026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0"/>
                        <a:t>Initial Samsung TV Seller Office UI description for MoneTV.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0"/>
                        <a:t>db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Contents</a:t>
            </a:r>
          </a:p>
        </p:txBody>
      </p:sp>
      <p:sp>
        <p:nvSpPr>
          <p:cNvPr id="129" name="Google Shape;129;p18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sz="2400" b="0">
                <a:solidFill>
                  <a:srgbClr val="222222"/>
                </a:solidFill>
              </a:rPr>
              <a:t>UI Structure</a:t>
            </a:r>
            <a:endParaRPr/>
          </a:p>
          <a:p>
            <a:r>
              <a:rPr sz="2400" b="0">
                <a:solidFill>
                  <a:srgbClr val="222222"/>
                </a:solidFill>
              </a:rPr>
              <a:t>Usage Scenario</a:t>
            </a:r>
          </a:p>
          <a:p>
            <a:r>
              <a:rPr sz="2400" b="0">
                <a:solidFill>
                  <a:srgbClr val="222222"/>
                </a:solidFill>
              </a:rPr>
              <a:t>Menu &amp; Function Description</a:t>
            </a:r>
          </a:p>
          <a:p>
            <a:r>
              <a:rPr sz="2400" b="0">
                <a:solidFill>
                  <a:srgbClr val="222222"/>
                </a:solidFill>
              </a:rPr>
              <a:t>Key Policy</a:t>
            </a:r>
          </a:p>
          <a:p>
            <a:r>
              <a:rPr sz="2400" b="0">
                <a:solidFill>
                  <a:srgbClr val="222222"/>
                </a:solidFill>
              </a:rPr>
              <a:t>How to Change Languages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UI Structure</a:t>
            </a:r>
          </a:p>
        </p:txBody>
      </p:sp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sz="1800" b="0">
                <a:solidFill>
                  <a:srgbClr val="222222"/>
                </a:solidFill>
              </a:rPr>
              <a:t>Whole UI Structure</a:t>
            </a:r>
            <a:endParaRPr/>
          </a:p>
          <a:p>
            <a:endParaRPr/>
          </a:p>
          <a:p>
            <a:r>
              <a:rPr sz="1800" b="0">
                <a:solidFill>
                  <a:srgbClr val="222222"/>
                </a:solidFill>
              </a:rPr>
              <a:t>MoneTV is a Samsung TV video application for browsing short-drama content</a:t>
            </a:r>
          </a:p>
          <a:p>
            <a:r>
              <a:rPr sz="1800" b="0">
                <a:solidFill>
                  <a:srgbClr val="222222"/>
                </a:solidFill>
              </a:rPr>
              <a:t>and playing selected episodes.</a:t>
            </a:r>
          </a:p>
          <a:p>
            <a:r>
              <a:rPr sz="1800" b="0">
                <a:solidFill>
                  <a:srgbClr val="222222"/>
                </a:solidFill>
              </a:rPr>
              <a:t>Only currently available user flows are described in this document.</a:t>
            </a:r>
          </a:p>
          <a:p>
            <a:endParaRPr sz="1800" b="0">
              <a:solidFill>
                <a:srgbClr val="222222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Primary user flow:</a:t>
            </a:r>
          </a:p>
          <a:p>
            <a:r>
              <a:rPr sz="1800" b="0">
                <a:solidFill>
                  <a:srgbClr val="222222"/>
                </a:solidFill>
              </a:rPr>
              <a:t>Home -&gt; Detail -&gt; Player</a:t>
            </a:r>
          </a:p>
          <a:p>
            <a:r>
              <a:rPr sz="1800" b="0">
                <a:solidFill>
                  <a:srgbClr val="222222"/>
                </a:solidFill>
              </a:rPr>
              <a:t>Discover -&gt; Detail -&gt; Player</a:t>
            </a:r>
          </a:p>
          <a:p>
            <a:endParaRPr sz="1800" b="0">
              <a:solidFill>
                <a:srgbClr val="222222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Main screens in the current release:</a:t>
            </a:r>
          </a:p>
          <a:p>
            <a:r>
              <a:rPr sz="1800" b="0">
                <a:solidFill>
                  <a:srgbClr val="222222"/>
                </a:solidFill>
              </a:rPr>
              <a:t>- Home: featured banner and content rows</a:t>
            </a:r>
          </a:p>
          <a:p>
            <a:r>
              <a:rPr sz="1800" b="0">
                <a:solidFill>
                  <a:srgbClr val="222222"/>
                </a:solidFill>
              </a:rPr>
              <a:t>- Discover: trending, genre, and new-this-week sections</a:t>
            </a:r>
          </a:p>
          <a:p>
            <a:r>
              <a:rPr sz="1800" b="0">
                <a:solidFill>
                  <a:srgbClr val="222222"/>
                </a:solidFill>
              </a:rPr>
              <a:t>- Detail: title information, episode list, and recommendation area</a:t>
            </a:r>
          </a:p>
          <a:p>
            <a:r>
              <a:rPr sz="1800" b="0">
                <a:solidFill>
                  <a:srgbClr val="222222"/>
                </a:solidFill>
              </a:rPr>
              <a:t>- Player: video playback and episode list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UI Structure - Flow Graph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1737360" y="1737360"/>
            <a:ext cx="1554480" cy="594360"/>
          </a:xfrm>
          <a:prstGeom prst="roundRect">
            <a:avLst/>
          </a:prstGeom>
          <a:solidFill>
            <a:srgbClr val="3FA77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Home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429000" y="17830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555555"/>
                </a:solidFill>
              </a:rPr>
              <a:t>&lt;-&gt;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931920" y="1737360"/>
            <a:ext cx="1783080" cy="594360"/>
          </a:xfrm>
          <a:prstGeom prst="roundRect">
            <a:avLst/>
          </a:prstGeom>
          <a:solidFill>
            <a:srgbClr val="3FA77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Discover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611880" y="25146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555555"/>
                </a:solidFill>
              </a:rPr>
              <a:t>v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2971800" y="2926080"/>
            <a:ext cx="1645920" cy="640080"/>
          </a:xfrm>
          <a:prstGeom prst="roundRect">
            <a:avLst/>
          </a:prstGeom>
          <a:solidFill>
            <a:srgbClr val="E08A3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Detail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0" y="36118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555555"/>
                </a:solidFill>
              </a:rPr>
              <a:t>v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2788920" y="3977639"/>
            <a:ext cx="2011680" cy="685800"/>
          </a:xfrm>
          <a:prstGeom prst="roundRect">
            <a:avLst/>
          </a:prstGeom>
          <a:solidFill>
            <a:srgbClr val="B94E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Player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UI Structure - Depth Navigation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51560" y="1828800"/>
            <a:ext cx="64922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Depth 1 : Home, Discover</a:t>
            </a:r>
          </a:p>
          <a:p>
            <a:r>
              <a:rPr sz="2000" b="0">
                <a:solidFill>
                  <a:srgbClr val="222222"/>
                </a:solidFill>
              </a:rPr>
              <a:t>Depth 2 : Selected drama detail page</a:t>
            </a:r>
          </a:p>
          <a:p>
            <a:r>
              <a:rPr sz="2000" b="0">
                <a:solidFill>
                  <a:srgbClr val="222222"/>
                </a:solidFill>
              </a:rPr>
              <a:t>Depth 3 : Episode playback page</a:t>
            </a:r>
          </a:p>
          <a:p>
            <a:endParaRPr sz="2000" b="0">
              <a:solidFill>
                <a:srgbClr val="222222"/>
              </a:solidFill>
            </a:endParaRPr>
          </a:p>
          <a:p>
            <a:r>
              <a:rPr sz="2000" b="0">
                <a:solidFill>
                  <a:srgbClr val="222222"/>
                </a:solidFill>
              </a:rPr>
              <a:t>Global UI elements:</a:t>
            </a:r>
          </a:p>
          <a:p>
            <a:r>
              <a:rPr sz="2000" b="0">
                <a:solidFill>
                  <a:srgbClr val="222222"/>
                </a:solidFill>
              </a:rPr>
              <a:t>- Header navigation bar</a:t>
            </a:r>
          </a:p>
          <a:p>
            <a:r>
              <a:rPr sz="2000" b="0">
                <a:solidFill>
                  <a:srgbClr val="222222"/>
                </a:solidFill>
              </a:rPr>
              <a:t>- Focus highlight for remote-control navigation</a:t>
            </a:r>
          </a:p>
          <a:p>
            <a:endParaRPr sz="2000" b="0">
              <a:solidFill>
                <a:srgbClr val="222222"/>
              </a:solidFill>
            </a:endParaRPr>
          </a:p>
          <a:p>
            <a:r>
              <a:rPr sz="2000" b="0">
                <a:solidFill>
                  <a:srgbClr val="222222"/>
                </a:solidFill>
              </a:rPr>
              <a:t>Contextual UI elements:</a:t>
            </a:r>
          </a:p>
          <a:p>
            <a:r>
              <a:rPr sz="2000" b="0">
                <a:solidFill>
                  <a:srgbClr val="222222"/>
                </a:solidFill>
              </a:rPr>
              <a:t>- Episode list on Detail page</a:t>
            </a:r>
          </a:p>
          <a:p>
            <a:r>
              <a:rPr sz="2000" b="0">
                <a:solidFill>
                  <a:srgbClr val="222222"/>
                </a:solidFill>
              </a:rPr>
              <a:t>- Video area and episode list on Player page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Usage Scenario</a:t>
            </a:r>
          </a:p>
        </p:txBody>
      </p:sp>
      <p:sp>
        <p:nvSpPr>
          <p:cNvPr id="181" name="Google Shape;181;p22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sz="1800" b="0">
                <a:solidFill>
                  <a:srgbClr val="222222"/>
                </a:solidFill>
              </a:rPr>
              <a:t>Use Case 1: Browse content and play an episode.</a:t>
            </a:r>
            <a:endParaRPr/>
          </a:p>
          <a:p>
            <a:endParaRPr/>
          </a:p>
          <a:p>
            <a:r>
              <a:rPr sz="1800" b="0">
                <a:solidFill>
                  <a:srgbClr val="222222"/>
                </a:solidFill>
              </a:rPr>
              <a:t>1. Move focus on the Home or Discover screen with the directional keys.</a:t>
            </a:r>
          </a:p>
          <a:p>
            <a:r>
              <a:rPr sz="1800" b="0">
                <a:solidFill>
                  <a:srgbClr val="222222"/>
                </a:solidFill>
              </a:rPr>
              <a:t>2. Select a drama card with the Enter key.</a:t>
            </a:r>
          </a:p>
          <a:p>
            <a:r>
              <a:rPr sz="1800" b="0">
                <a:solidFill>
                  <a:srgbClr val="222222"/>
                </a:solidFill>
              </a:rPr>
              <a:t>3. Review the title information and episode list on the Detail screen.</a:t>
            </a:r>
          </a:p>
          <a:p>
            <a:r>
              <a:rPr sz="1800" b="0">
                <a:solidFill>
                  <a:srgbClr val="222222"/>
                </a:solidFill>
              </a:rPr>
              <a:t>4. Select Play Episode 1 or choose an available episode card.</a:t>
            </a:r>
          </a:p>
          <a:p>
            <a:r>
              <a:rPr sz="1800" b="0">
                <a:solidFill>
                  <a:srgbClr val="222222"/>
                </a:solidFill>
              </a:rPr>
              <a:t>5. The Player screen opens and video playback starts.</a:t>
            </a:r>
          </a:p>
          <a:p>
            <a:r>
              <a:rPr sz="1800" b="0">
                <a:solidFill>
                  <a:srgbClr val="222222"/>
                </a:solidFill>
              </a:rPr>
              <a:t>6. Select another episode from the episode list if needed.</a:t>
            </a:r>
          </a:p>
          <a:p>
            <a:r>
              <a:rPr sz="1800" b="0">
                <a:solidFill>
                  <a:srgbClr val="222222"/>
                </a:solidFill>
              </a:rPr>
              <a:t>7. Press Back / Return to go to the previous screen.</a:t>
            </a:r>
          </a:p>
          <a:p>
            <a:endParaRPr sz="1800" b="0">
              <a:solidFill>
                <a:srgbClr val="222222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No account sign-in, activation, or purchase is required in the current release.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Usage Scenario</a:t>
            </a:r>
          </a:p>
        </p:txBody>
      </p:sp>
      <p:sp>
        <p:nvSpPr>
          <p:cNvPr id="187" name="Google Shape;187;p23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2280"/>
              <a:buChar char="⚫"/>
            </a:pPr>
            <a:r>
              <a:rPr sz="1800" b="0" dirty="0">
                <a:solidFill>
                  <a:srgbClr val="222222"/>
                </a:solidFill>
              </a:rPr>
              <a:t>Use Case Title: Browse and play a drama episode</a:t>
            </a:r>
            <a:endParaRPr sz="2400" i="1" dirty="0">
              <a:solidFill>
                <a:srgbClr val="54A838"/>
              </a:solidFill>
            </a:endParaRPr>
          </a:p>
          <a:p>
            <a:r>
              <a:rPr sz="1800" b="0" dirty="0">
                <a:solidFill>
                  <a:srgbClr val="222222"/>
                </a:solidFill>
              </a:rPr>
              <a:t>Path: Home or Discover -&gt; Detail -&gt; Player</a:t>
            </a:r>
          </a:p>
          <a:p>
            <a:endParaRPr sz="1800" b="0" dirty="0">
              <a:solidFill>
                <a:srgbClr val="222222"/>
              </a:solidFill>
            </a:endParaRPr>
          </a:p>
          <a:p>
            <a:r>
              <a:rPr sz="1800" b="0" dirty="0">
                <a:solidFill>
                  <a:srgbClr val="222222"/>
                </a:solidFill>
              </a:rPr>
              <a:t>Supporting notes:</a:t>
            </a:r>
          </a:p>
          <a:p>
            <a:r>
              <a:rPr sz="1800" b="0" dirty="0">
                <a:solidFill>
                  <a:srgbClr val="222222"/>
                </a:solidFill>
              </a:rPr>
              <a:t>- The review flow can start from either Home or Discover.</a:t>
            </a:r>
          </a:p>
          <a:p>
            <a:r>
              <a:rPr sz="1800" b="0" dirty="0">
                <a:solidFill>
                  <a:srgbClr val="222222"/>
                </a:solidFill>
              </a:rPr>
              <a:t>- Playback starts after the user selects an episode.</a:t>
            </a:r>
          </a:p>
          <a:p>
            <a:r>
              <a:rPr sz="1800" b="0" dirty="0">
                <a:solidFill>
                  <a:srgbClr val="222222"/>
                </a:solidFill>
              </a:rPr>
              <a:t>- The screenshots in this document follow the same path.</a:t>
            </a:r>
          </a:p>
          <a:p>
            <a:endParaRPr sz="1800" b="0" dirty="0">
              <a:solidFill>
                <a:srgbClr val="222222"/>
              </a:solidFill>
            </a:endParaRPr>
          </a:p>
          <a:p>
            <a:r>
              <a:rPr sz="1800" b="0" dirty="0">
                <a:solidFill>
                  <a:srgbClr val="222222"/>
                </a:solidFill>
              </a:rPr>
              <a:t>No account login is required.</a:t>
            </a:r>
          </a:p>
          <a:p>
            <a:r>
              <a:rPr sz="1800" b="0" dirty="0">
                <a:solidFill>
                  <a:srgbClr val="222222"/>
                </a:solidFill>
              </a:rPr>
              <a:t>No in-app purchase is required.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952341-2BFE-DAAF-1377-3D2B77C092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CE3C906-7007-5337-FBC8-3E8C953F43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88" name="Picture 187" descr="07-usage-scenario-coll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67" y="1078070"/>
            <a:ext cx="7523665" cy="4300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285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Menu &amp; Function Description</a:t>
            </a:r>
          </a:p>
        </p:txBody>
      </p:sp>
      <p:sp>
        <p:nvSpPr>
          <p:cNvPr id="194" name="Google Shape;194;p24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sz="1800" b="0">
                <a:solidFill>
                  <a:srgbClr val="222222"/>
                </a:solidFill>
              </a:rPr>
              <a:t>Screen descriptions in the current release:</a:t>
            </a:r>
            <a:endParaRPr i="1">
              <a:solidFill>
                <a:srgbClr val="54A838"/>
              </a:solidFill>
            </a:endParaRPr>
          </a:p>
          <a:p>
            <a:endParaRPr i="1">
              <a:solidFill>
                <a:srgbClr val="54A838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Home: displays a featured banner and drama rows for browsing.</a:t>
            </a:r>
          </a:p>
          <a:p>
            <a:r>
              <a:rPr sz="1800" b="0">
                <a:solidFill>
                  <a:srgbClr val="222222"/>
                </a:solidFill>
              </a:rPr>
              <a:t>Discover: displays trending content, genre browsing blocks, and new content sections.</a:t>
            </a:r>
          </a:p>
          <a:p>
            <a:r>
              <a:rPr sz="1800" b="0">
                <a:solidFill>
                  <a:srgbClr val="222222"/>
                </a:solidFill>
              </a:rPr>
              <a:t>Detail: displays title metadata, synopsis, episode list, and recommendation area.</a:t>
            </a:r>
          </a:p>
          <a:p>
            <a:r>
              <a:rPr sz="1800" b="0">
                <a:solidFill>
                  <a:srgbClr val="222222"/>
                </a:solidFill>
              </a:rPr>
              <a:t>Player: displays the selected video and the episode list for switching episodes.</a:t>
            </a:r>
          </a:p>
          <a:p>
            <a:endParaRPr sz="1800" b="0">
              <a:solidFill>
                <a:srgbClr val="222222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Only currently implemented screens and functions are described in this document.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5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Key Policy</a:t>
            </a:r>
          </a:p>
        </p:txBody>
      </p:sp>
      <p:sp>
        <p:nvSpPr>
          <p:cNvPr id="201" name="Google Shape;201;p25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2090"/>
              <a:buChar char="⚫"/>
            </a:pPr>
            <a:r>
              <a:rPr sz="1800" b="0">
                <a:solidFill>
                  <a:srgbClr val="222222"/>
                </a:solidFill>
              </a:rPr>
              <a:t>No custom remote-control key remapping is implemented in the current release.</a:t>
            </a:r>
            <a:endParaRPr sz="2200" i="1">
              <a:solidFill>
                <a:srgbClr val="54A838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Standard Samsung TV navigation behavior is used.</a:t>
            </a:r>
          </a:p>
        </p:txBody>
      </p:sp>
      <p:graphicFrame>
        <p:nvGraphicFramePr>
          <p:cNvPr id="202" name="Google Shape;202;p25"/>
          <p:cNvGraphicFramePr/>
          <p:nvPr/>
        </p:nvGraphicFramePr>
        <p:xfrm>
          <a:off x="539552" y="2492896"/>
          <a:ext cx="7920875" cy="3933615"/>
        </p:xfrm>
        <a:graphic>
          <a:graphicData uri="http://schemas.openxmlformats.org/drawingml/2006/table">
            <a:tbl>
              <a:tblPr>
                <a:noFill/>
                <a:tableStyleId>{F0D7D541-CF8F-4543-9F64-9DD65BD08CB1}</a:tableStyleId>
              </a:tblPr>
              <a:tblGrid>
                <a:gridCol w="139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6375">
                <a:tc>
                  <a:txBody>
                    <a:bodyPr/>
                    <a:lstStyle/>
                    <a:p>
                      <a:r>
                        <a:rPr sz="1100" b="1"/>
                        <a:t>Button</a:t>
                      </a:r>
                    </a:p>
                  </a:txBody>
                  <a:tcPr marL="36000" marR="36000" marT="36000" marB="72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Action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Remarks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ENTER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Select the focused card, button, or episode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Standard selection behavior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UP / DOWN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Move focus vertically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Standard directional navigation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LEFT / RIGHT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Move focus horizontally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Standard directional navigation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BACK / RETURN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Go to the previous screen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Standard Samsung TV behavior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EXIT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Close the application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Standard Samsung TV behavior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PLAY / PAUSE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Platform default behavior only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No custom key mapping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FAST FORWARD / REWIND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N/R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No custom key mapping in current release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COLOR KEYS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N/R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No custom key mapping in current release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CHANNEL / NUMBER KEYS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N/R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No custom key mapping in current release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How to Change Languages</a:t>
            </a:r>
          </a:p>
        </p:txBody>
      </p:sp>
      <p:graphicFrame>
        <p:nvGraphicFramePr>
          <p:cNvPr id="208" name="Google Shape;208;p26"/>
          <p:cNvGraphicFramePr/>
          <p:nvPr/>
        </p:nvGraphicFramePr>
        <p:xfrm>
          <a:off x="467544" y="1935163"/>
          <a:ext cx="8219250" cy="1081200"/>
        </p:xfrm>
        <a:graphic>
          <a:graphicData uri="http://schemas.openxmlformats.org/drawingml/2006/table">
            <a:tbl>
              <a:tblPr firstRow="1" bandRow="1">
                <a:noFill/>
                <a:tableStyleId>{25375610-7600-4973-BF82-191DA6F836F1}</a:tableStyleId>
              </a:tblPr>
              <a:tblGrid>
                <a:gridCol w="195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7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7150">
                <a:tc>
                  <a:txBody>
                    <a:bodyPr/>
                    <a:lstStyle/>
                    <a:p>
                      <a:r>
                        <a:rPr sz="1200" b="1"/>
                        <a:t>Items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1"/>
                        <a:t>Contents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50">
                <a:tc>
                  <a:txBody>
                    <a:bodyPr/>
                    <a:lstStyle/>
                    <a:p>
                      <a:r>
                        <a:rPr sz="1200" b="0"/>
                        <a:t>Language support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0"/>
                        <a:t>This version supports English only. No in-app language change menu is provided.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흐름">
  <a:themeElements>
    <a:clrScheme name="흐름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흐름">
  <a:themeElements>
    <a:clrScheme name="흐름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615</Words>
  <Application>Microsoft Office PowerPoint</Application>
  <PresentationFormat>全屏显示(4:3)</PresentationFormat>
  <Paragraphs>123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Constantia</vt:lpstr>
      <vt:lpstr>Calibri</vt:lpstr>
      <vt:lpstr>Arial</vt:lpstr>
      <vt:lpstr>Noto Sans Symbols</vt:lpstr>
      <vt:lpstr>흐름</vt:lpstr>
      <vt:lpstr>흐름</vt:lpstr>
      <vt:lpstr>MoneTV Description</vt:lpstr>
      <vt:lpstr>Revision History</vt:lpstr>
      <vt:lpstr>Contents</vt:lpstr>
      <vt:lpstr>UI Structure</vt:lpstr>
      <vt:lpstr>UI Structure - Flow Graph</vt:lpstr>
      <vt:lpstr>UI Structure - Depth Navigation</vt:lpstr>
      <vt:lpstr>Usage Scenario</vt:lpstr>
      <vt:lpstr>Usage Scenario</vt:lpstr>
      <vt:lpstr>PowerPoint 演示文稿</vt:lpstr>
      <vt:lpstr>Menu &amp; Function Description</vt:lpstr>
      <vt:lpstr>Key Policy</vt:lpstr>
      <vt:lpstr>How to Change Languages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oneting zhang</cp:lastModifiedBy>
  <cp:revision>3</cp:revision>
  <dcterms:modified xsi:type="dcterms:W3CDTF">2026-03-19T08:06:22Z</dcterms:modified>
</cp:coreProperties>
</file>