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6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9" r:id="rId13"/>
    <p:sldId id="266" r:id="rId14"/>
    <p:sldId id="267" r:id="rId15"/>
  </p:sldIdLst>
  <p:sldSz cx="9144000" cy="6858000" type="screen4x3"/>
  <p:notesSz cx="6858000" cy="9144000"/>
  <p:embeddedFontLst>
    <p:embeddedFont>
      <p:font typeface="Constantia" panose="02030602050306030303" pitchFamily="18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375610-7600-4973-BF82-191DA6F836F1}">
  <a:tblStyle styleId="{25375610-7600-4973-BF82-191DA6F836F1}" styleName="Table_0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tcBdr/>
        <a:fill>
          <a:solidFill>
            <a:srgbClr val="CA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0D7D541-CF8F-4543-9F64-9DD65BD08CB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04279AB3-5056-1742-09F7-80278C62F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>
            <a:extLst>
              <a:ext uri="{FF2B5EF4-FFF2-40B4-BE49-F238E27FC236}">
                <a16:creationId xmlns:a16="http://schemas.microsoft.com/office/drawing/2014/main" id="{A48A80BA-734A-463E-BCA2-E57C6A0CB7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>
            <a:extLst>
              <a:ext uri="{FF2B5EF4-FFF2-40B4-BE49-F238E27FC236}">
                <a16:creationId xmlns:a16="http://schemas.microsoft.com/office/drawing/2014/main" id="{E91185E5-8109-38DE-9D60-E4317678E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3241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5488A70A-7012-F1BF-E7E3-E25F86CDD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>
            <a:extLst>
              <a:ext uri="{FF2B5EF4-FFF2-40B4-BE49-F238E27FC236}">
                <a16:creationId xmlns:a16="http://schemas.microsoft.com/office/drawing/2014/main" id="{3063CC5F-2AC5-8845-A949-19D71B623E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:notes">
            <a:extLst>
              <a:ext uri="{FF2B5EF4-FFF2-40B4-BE49-F238E27FC236}">
                <a16:creationId xmlns:a16="http://schemas.microsoft.com/office/drawing/2014/main" id="{70960C83-B038-DC05-FE86-EDB6931CAA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56454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>
            <a:lvl1pPr marR="45720" lvl="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sz="5600" b="1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5445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5445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61315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61315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sz="5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sz="26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marL="914400" lvl="1" indent="-368935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marL="1371600" lvl="2" indent="-33528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marL="1828800" lvl="3" indent="-31115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캡션 있는 그림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 rot="-10380000" flipH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8" name="Google Shape;68;p10"/>
          <p:cNvSpPr/>
          <p:nvPr/>
        </p:nvSpPr>
        <p:spPr>
          <a:xfrm rot="-10380000" flipH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rm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marL="914400" lvl="1" indent="-293369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marL="1371600" lvl="2" indent="-27305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marL="1828800" lvl="3" indent="-265747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marL="2286000" lvl="4" indent="-265747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0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10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6" name="Google Shape;76;p10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>
            <a:lvl1pPr marR="45720" lvl="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tile tx="0" ty="0" sx="65000" sy="65000" flip="none" algn="tl"/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9525" y="-7144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4381500" y="-7144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5445" algn="l" rtl="0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02894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294639" algn="l" rtl="0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" name="Google Shape;13;p1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4" name="Google Shape;14;p1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65000" sy="65000" flip="none" algn="tl"/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/>
          <p:nvPr/>
        </p:nvSpPr>
        <p:spPr>
          <a:xfrm>
            <a:off x="-9525" y="-7144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381500" y="-7144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alibri"/>
              <a:buNone/>
              <a:defRPr sz="4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5445" algn="l" rtl="0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02894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294639" algn="l" rtl="0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7" name="Google Shape;97;p13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98" name="Google Shape;98;p1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/>
          <a:p>
            <a:r>
              <a:t>MoneTV Description</a:t>
            </a:r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/>
          <a:p>
            <a:r>
              <a:t>MATICONE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Revision History</a:t>
            </a:r>
          </a:p>
        </p:txBody>
      </p:sp>
      <p:graphicFrame>
        <p:nvGraphicFramePr>
          <p:cNvPr id="123" name="Google Shape;123;p17"/>
          <p:cNvGraphicFramePr/>
          <p:nvPr/>
        </p:nvGraphicFramePr>
        <p:xfrm>
          <a:off x="457200" y="1935163"/>
          <a:ext cx="8229600" cy="1285270"/>
        </p:xfrm>
        <a:graphic>
          <a:graphicData uri="http://schemas.openxmlformats.org/drawingml/2006/table">
            <a:tbl>
              <a:tblPr firstRow="1" bandRow="1">
                <a:noFill/>
                <a:tableStyleId>{25375610-7600-4973-BF82-191DA6F836F1}</a:tableStyleId>
              </a:tblPr>
              <a:tblGrid>
                <a:gridCol w="10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r>
                        <a:rPr sz="1200" b="1"/>
                        <a:t>Version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Date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Description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Author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r>
                        <a:rPr sz="1200" b="0"/>
                        <a:t>1.0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March 19, 2026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Initial Samsung TV Seller Office UI description for MoneTV.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db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r>
                        <a:rPr sz="1200" b="0"/>
                        <a:t>1.0.1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March 24, 2026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Updated return key policy scenarios and screenshots for Samsung review.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db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Contents</a:t>
            </a:r>
          </a:p>
        </p:txBody>
      </p:sp>
      <p:sp>
        <p:nvSpPr>
          <p:cNvPr id="129" name="Google Shape;129;p18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2400" b="0">
                <a:solidFill>
                  <a:srgbClr val="222222"/>
                </a:solidFill>
              </a:rPr>
              <a:t>UI Structure</a:t>
            </a:r>
            <a:endParaRPr/>
          </a:p>
          <a:p>
            <a:r>
              <a:rPr sz="2400" b="0">
                <a:solidFill>
                  <a:srgbClr val="222222"/>
                </a:solidFill>
              </a:rPr>
              <a:t>Usage Scenario</a:t>
            </a:r>
          </a:p>
          <a:p>
            <a:r>
              <a:rPr sz="2400" b="0">
                <a:solidFill>
                  <a:srgbClr val="222222"/>
                </a:solidFill>
              </a:rPr>
              <a:t>Menu &amp; Function Description</a:t>
            </a:r>
          </a:p>
          <a:p>
            <a:r>
              <a:rPr sz="2400" b="0">
                <a:solidFill>
                  <a:srgbClr val="222222"/>
                </a:solidFill>
              </a:rPr>
              <a:t>Key Policy</a:t>
            </a:r>
          </a:p>
          <a:p>
            <a:r>
              <a:rPr sz="2400" b="0">
                <a:solidFill>
                  <a:srgbClr val="222222"/>
                </a:solidFill>
              </a:rPr>
              <a:t>How to Change Languages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</a:t>
            </a:r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Whole UI Structure</a:t>
            </a:r>
            <a:endParaRPr/>
          </a:p>
          <a:p>
            <a:endParaRPr/>
          </a:p>
          <a:p>
            <a:r>
              <a:rPr sz="1800" b="0">
                <a:solidFill>
                  <a:srgbClr val="222222"/>
                </a:solidFill>
              </a:rPr>
              <a:t>MoneTV is a Samsung TV video application for browsing short-drama content</a:t>
            </a:r>
          </a:p>
          <a:p>
            <a:r>
              <a:rPr sz="1800" b="0">
                <a:solidFill>
                  <a:srgbClr val="222222"/>
                </a:solidFill>
              </a:rPr>
              <a:t>and playing selected episodes.</a:t>
            </a:r>
          </a:p>
          <a:p>
            <a:r>
              <a:rPr sz="1800" b="0">
                <a:solidFill>
                  <a:srgbClr val="222222"/>
                </a:solidFill>
              </a:rPr>
              <a:t>Only currently available user flows are described in this document.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Primary user flow:</a:t>
            </a:r>
          </a:p>
          <a:p>
            <a:r>
              <a:rPr sz="1800" b="0">
                <a:solidFill>
                  <a:srgbClr val="222222"/>
                </a:solidFill>
              </a:rPr>
              <a:t>Home -&gt; Detail -&gt; Player</a:t>
            </a:r>
          </a:p>
          <a:p>
            <a:r>
              <a:rPr sz="1800" b="0">
                <a:solidFill>
                  <a:srgbClr val="222222"/>
                </a:solidFill>
              </a:rPr>
              <a:t>Discover -&gt; Detail -&gt; Player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Main screens in the current release:</a:t>
            </a:r>
          </a:p>
          <a:p>
            <a:r>
              <a:rPr sz="1800" b="0">
                <a:solidFill>
                  <a:srgbClr val="222222"/>
                </a:solidFill>
              </a:rPr>
              <a:t>- Home: featured banner and content rows</a:t>
            </a:r>
          </a:p>
          <a:p>
            <a:r>
              <a:rPr sz="1800" b="0">
                <a:solidFill>
                  <a:srgbClr val="222222"/>
                </a:solidFill>
              </a:rPr>
              <a:t>- Discover: trending, genre, and new-this-week sections</a:t>
            </a:r>
          </a:p>
          <a:p>
            <a:r>
              <a:rPr sz="1800" b="0">
                <a:solidFill>
                  <a:srgbClr val="222222"/>
                </a:solidFill>
              </a:rPr>
              <a:t>- Detail: title information, episode list, and recommendation area</a:t>
            </a:r>
          </a:p>
          <a:p>
            <a:r>
              <a:rPr sz="1800" b="0">
                <a:solidFill>
                  <a:srgbClr val="222222"/>
                </a:solidFill>
              </a:rPr>
              <a:t>- Player: video playback and episode 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 - Flow Graph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737360" y="1737360"/>
            <a:ext cx="1554480" cy="594360"/>
          </a:xfrm>
          <a:prstGeom prst="roundRect">
            <a:avLst/>
          </a:prstGeom>
          <a:solidFill>
            <a:srgbClr val="3FA7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429000" y="1783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</a:rPr>
              <a:t>&lt;-&gt;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931920" y="1737360"/>
            <a:ext cx="1783080" cy="594360"/>
          </a:xfrm>
          <a:prstGeom prst="roundRect">
            <a:avLst/>
          </a:prstGeom>
          <a:solidFill>
            <a:srgbClr val="3FA7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11880" y="25146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</a:rPr>
              <a:t>v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971800" y="2926080"/>
            <a:ext cx="1645920" cy="640080"/>
          </a:xfrm>
          <a:prstGeom prst="roundRect">
            <a:avLst/>
          </a:prstGeom>
          <a:solidFill>
            <a:srgbClr val="E08A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Detail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0" y="36118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</a:rPr>
              <a:t>v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788920" y="3977639"/>
            <a:ext cx="2011680" cy="685800"/>
          </a:xfrm>
          <a:prstGeom prst="roundRect">
            <a:avLst/>
          </a:prstGeom>
          <a:solidFill>
            <a:srgbClr val="B94E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 - Depth Navigation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51560" y="1828800"/>
            <a:ext cx="64922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Depth 1 : Home, Discover</a:t>
            </a:r>
          </a:p>
          <a:p>
            <a:r>
              <a:rPr sz="2000" b="0">
                <a:solidFill>
                  <a:srgbClr val="222222"/>
                </a:solidFill>
              </a:rPr>
              <a:t>Depth 2 : Selected drama detail page</a:t>
            </a:r>
          </a:p>
          <a:p>
            <a:r>
              <a:rPr sz="2000" b="0">
                <a:solidFill>
                  <a:srgbClr val="222222"/>
                </a:solidFill>
              </a:rPr>
              <a:t>Depth 3 : Episode playback page</a:t>
            </a:r>
          </a:p>
          <a:p>
            <a:endParaRPr sz="2000" b="0">
              <a:solidFill>
                <a:srgbClr val="222222"/>
              </a:solidFill>
            </a:endParaRPr>
          </a:p>
          <a:p>
            <a:r>
              <a:rPr sz="2000" b="0">
                <a:solidFill>
                  <a:srgbClr val="222222"/>
                </a:solidFill>
              </a:rPr>
              <a:t>Global UI elements:</a:t>
            </a:r>
          </a:p>
          <a:p>
            <a:r>
              <a:rPr sz="2000" b="0">
                <a:solidFill>
                  <a:srgbClr val="222222"/>
                </a:solidFill>
              </a:rPr>
              <a:t>- Header navigation bar</a:t>
            </a:r>
          </a:p>
          <a:p>
            <a:r>
              <a:rPr sz="2000" b="0">
                <a:solidFill>
                  <a:srgbClr val="222222"/>
                </a:solidFill>
              </a:rPr>
              <a:t>- Focus highlight for remote-control navigation</a:t>
            </a:r>
          </a:p>
          <a:p>
            <a:endParaRPr sz="2000" b="0">
              <a:solidFill>
                <a:srgbClr val="222222"/>
              </a:solidFill>
            </a:endParaRPr>
          </a:p>
          <a:p>
            <a:r>
              <a:rPr sz="2000" b="0">
                <a:solidFill>
                  <a:srgbClr val="222222"/>
                </a:solidFill>
              </a:rPr>
              <a:t>Contextual UI elements:</a:t>
            </a:r>
          </a:p>
          <a:p>
            <a:r>
              <a:rPr sz="2000" b="0">
                <a:solidFill>
                  <a:srgbClr val="222222"/>
                </a:solidFill>
              </a:rPr>
              <a:t>- Episode list on Detail page</a:t>
            </a:r>
          </a:p>
          <a:p>
            <a:r>
              <a:rPr sz="2000" b="0">
                <a:solidFill>
                  <a:srgbClr val="222222"/>
                </a:solidFill>
              </a:rPr>
              <a:t>- Video area and episode list on Player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Usage Scenario</a:t>
            </a:r>
          </a:p>
        </p:txBody>
      </p:sp>
      <p:sp>
        <p:nvSpPr>
          <p:cNvPr id="181" name="Google Shape;181;p22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Use Case 1: Browse content and play an episode.</a:t>
            </a:r>
            <a:endParaRPr/>
          </a:p>
          <a:p>
            <a:endParaRPr/>
          </a:p>
          <a:p>
            <a:r>
              <a:rPr sz="1800" b="0">
                <a:solidFill>
                  <a:srgbClr val="222222"/>
                </a:solidFill>
              </a:rPr>
              <a:t>1. Move focus on the Home or Discover screen with the directional keys.</a:t>
            </a:r>
          </a:p>
          <a:p>
            <a:r>
              <a:rPr sz="1800" b="0">
                <a:solidFill>
                  <a:srgbClr val="222222"/>
                </a:solidFill>
              </a:rPr>
              <a:t>2. Select a drama card with the Enter key.</a:t>
            </a:r>
          </a:p>
          <a:p>
            <a:r>
              <a:rPr sz="1800" b="0">
                <a:solidFill>
                  <a:srgbClr val="222222"/>
                </a:solidFill>
              </a:rPr>
              <a:t>3. Review the title information and episode list on the Detail screen.</a:t>
            </a:r>
          </a:p>
          <a:p>
            <a:r>
              <a:rPr sz="1800" b="0">
                <a:solidFill>
                  <a:srgbClr val="222222"/>
                </a:solidFill>
              </a:rPr>
              <a:t>4. Select Play Episode 1 or choose an available episode card.</a:t>
            </a:r>
          </a:p>
          <a:p>
            <a:r>
              <a:rPr sz="1800" b="0">
                <a:solidFill>
                  <a:srgbClr val="222222"/>
                </a:solidFill>
              </a:rPr>
              <a:t>5. The Player screen opens and video playback starts.</a:t>
            </a:r>
          </a:p>
          <a:p>
            <a:r>
              <a:rPr sz="1800" b="0">
                <a:solidFill>
                  <a:srgbClr val="222222"/>
                </a:solidFill>
              </a:rPr>
              <a:t>6. Select another episode from the episode list if needed.</a:t>
            </a:r>
          </a:p>
          <a:p>
            <a:r>
              <a:rPr sz="1800" b="0">
                <a:solidFill>
                  <a:srgbClr val="222222"/>
                </a:solidFill>
              </a:rPr>
              <a:t>7. Press Return on Discover / Detail / Player to go to the previous screen.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No account sign-in, activation, or purchase is required in the current release.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Usage Scenario</a:t>
            </a:r>
          </a:p>
        </p:txBody>
      </p:sp>
      <p:sp>
        <p:nvSpPr>
          <p:cNvPr id="187" name="Google Shape;187;p23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280"/>
              <a:buChar char="⚫"/>
            </a:pPr>
            <a:r>
              <a:rPr sz="1800" b="0">
                <a:solidFill>
                  <a:srgbClr val="222222"/>
                </a:solidFill>
              </a:rPr>
              <a:t>Use Case Title: Return key policy scenarios</a:t>
            </a:r>
            <a:endParaRPr sz="2400" i="1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Path 1: Home -&gt; Return -&gt; Exit confirmation popup</a:t>
            </a:r>
          </a:p>
          <a:p>
            <a:r>
              <a:rPr sz="1800" b="0">
                <a:solidFill>
                  <a:srgbClr val="222222"/>
                </a:solidFill>
              </a:rPr>
              <a:t>Path 2: Exit popup open -&gt; Return -&gt; Popup closes and Home remains active</a:t>
            </a:r>
          </a:p>
          <a:p>
            <a:r>
              <a:rPr sz="1800" b="0">
                <a:solidFill>
                  <a:srgbClr val="222222"/>
                </a:solidFill>
              </a:rPr>
              <a:t>Path 3: Discover / Detail / Player -&gt; Return -&gt; Previous page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Supporting notes:</a:t>
            </a:r>
          </a:p>
          <a:p>
            <a:r>
              <a:rPr sz="1800" b="0">
                <a:solidFill>
                  <a:srgbClr val="222222"/>
                </a:solidFill>
              </a:rPr>
              <a:t>- The app follows Samsung TV Return key policy in the current release.</a:t>
            </a:r>
          </a:p>
          <a:p>
            <a:r>
              <a:rPr sz="1800" b="0">
                <a:solidFill>
                  <a:srgbClr val="222222"/>
                </a:solidFill>
              </a:rPr>
              <a:t>- The Home page does not exit immediately on Return.</a:t>
            </a:r>
          </a:p>
          <a:p>
            <a:r>
              <a:rPr sz="1800" b="0">
                <a:solidFill>
                  <a:srgbClr val="222222"/>
                </a:solidFill>
              </a:rPr>
              <a:t>- The dedicated EXIT key is left to the Samsung TV platform default behavior.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No account login is required.</a:t>
            </a:r>
          </a:p>
          <a:p>
            <a:r>
              <a:rPr sz="1800" b="0">
                <a:solidFill>
                  <a:srgbClr val="222222"/>
                </a:solidFill>
              </a:rPr>
              <a:t>No in-app purchase is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35940F44-6A80-9D34-8F90-CF402690E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 descr="10-return-key-policy-collage.jpg">
            <a:extLst>
              <a:ext uri="{FF2B5EF4-FFF2-40B4-BE49-F238E27FC236}">
                <a16:creationId xmlns:a16="http://schemas.microsoft.com/office/drawing/2014/main" id="{95CDBE88-6055-F6BC-0EF9-61AA54E63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86" y="1174459"/>
            <a:ext cx="8266989" cy="472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72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Menu &amp; Function Description</a:t>
            </a:r>
          </a:p>
        </p:txBody>
      </p:sp>
      <p:sp>
        <p:nvSpPr>
          <p:cNvPr id="194" name="Google Shape;194;p24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Screen descriptions in the current release:</a:t>
            </a:r>
            <a:endParaRPr i="1">
              <a:solidFill>
                <a:srgbClr val="54A838"/>
              </a:solidFill>
            </a:endParaRPr>
          </a:p>
          <a:p>
            <a:endParaRPr i="1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Home: displays a featured banner and drama rows for browsing.</a:t>
            </a:r>
          </a:p>
          <a:p>
            <a:r>
              <a:rPr sz="1800" b="0">
                <a:solidFill>
                  <a:srgbClr val="222222"/>
                </a:solidFill>
              </a:rPr>
              <a:t>Discover: displays trending content, genre browsing blocks, and new content sections.</a:t>
            </a:r>
          </a:p>
          <a:p>
            <a:r>
              <a:rPr sz="1800" b="0">
                <a:solidFill>
                  <a:srgbClr val="222222"/>
                </a:solidFill>
              </a:rPr>
              <a:t>Detail: displays title metadata, synopsis, episode list, and recommendation area.</a:t>
            </a:r>
          </a:p>
          <a:p>
            <a:r>
              <a:rPr sz="1800" b="0">
                <a:solidFill>
                  <a:srgbClr val="222222"/>
                </a:solidFill>
              </a:rPr>
              <a:t>Player: displays the selected video and the episode list for switching episodes.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Only currently implemented screens and functions are described in this document.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F713E210-A873-B25C-0C70-95858FBDF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Picture 194" descr="09-menu-function-collage.jpg">
            <a:extLst>
              <a:ext uri="{FF2B5EF4-FFF2-40B4-BE49-F238E27FC236}">
                <a16:creationId xmlns:a16="http://schemas.microsoft.com/office/drawing/2014/main" id="{2FBADCD9-C578-234D-069C-9607A19B5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9626"/>
            <a:ext cx="9199392" cy="418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5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Key Policy</a:t>
            </a:r>
          </a:p>
        </p:txBody>
      </p:sp>
      <p:sp>
        <p:nvSpPr>
          <p:cNvPr id="201" name="Google Shape;201;p25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090"/>
              <a:buChar char="⚫"/>
            </a:pPr>
            <a:r>
              <a:rPr sz="1800" b="0">
                <a:solidFill>
                  <a:srgbClr val="222222"/>
                </a:solidFill>
              </a:rPr>
              <a:t>The current release follows Samsung TV Return key policy.</a:t>
            </a:r>
            <a:endParaRPr sz="2200" i="1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Home page: Return opens the exit confirmation popup.</a:t>
            </a:r>
          </a:p>
          <a:p>
            <a:r>
              <a:rPr sz="1800" b="0">
                <a:solidFill>
                  <a:srgbClr val="222222"/>
                </a:solidFill>
              </a:rPr>
              <a:t>Exit popup open: Return closes the popup first.</a:t>
            </a:r>
          </a:p>
          <a:p>
            <a:r>
              <a:rPr sz="1800" b="0">
                <a:solidFill>
                  <a:srgbClr val="222222"/>
                </a:solidFill>
              </a:rPr>
              <a:t>Discover / Detail / Player pages: Return navigates to the previous page.</a:t>
            </a:r>
          </a:p>
          <a:p>
            <a:r>
              <a:rPr sz="1800" b="0">
                <a:solidFill>
                  <a:srgbClr val="222222"/>
                </a:solidFill>
              </a:rPr>
              <a:t>The dedicated EXIT key uses the Samsung TV platform default behavior.</a:t>
            </a:r>
          </a:p>
        </p:txBody>
      </p:sp>
      <p:graphicFrame>
        <p:nvGraphicFramePr>
          <p:cNvPr id="202" name="Google Shape;202;p25"/>
          <p:cNvGraphicFramePr/>
          <p:nvPr/>
        </p:nvGraphicFramePr>
        <p:xfrm>
          <a:off x="539552" y="2492896"/>
          <a:ext cx="7920875" cy="4199535"/>
        </p:xfrm>
        <a:graphic>
          <a:graphicData uri="http://schemas.openxmlformats.org/drawingml/2006/table">
            <a:tbl>
              <a:tblPr>
                <a:noFill/>
                <a:tableStyleId>{F0D7D541-CF8F-4543-9F64-9DD65BD08CB1}</a:tableStyleId>
              </a:tblPr>
              <a:tblGrid>
                <a:gridCol w="139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375">
                <a:tc>
                  <a:txBody>
                    <a:bodyPr/>
                    <a:lstStyle/>
                    <a:p>
                      <a:r>
                        <a:rPr sz="1100" b="1"/>
                        <a:t>Button</a:t>
                      </a:r>
                    </a:p>
                  </a:txBody>
                  <a:tcPr marL="36000" marR="36000" marT="36000" marB="72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Action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Remarks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ENTER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Select the focused card, button, or episode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Standard selection behavior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UP / DOWN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Move focus vertically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Standard directional navigation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LEFT / RIGHT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Move focus horizontally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Standard directional navigation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RETURN on Home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Open the exit confirmation popup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Required by Samsung TV Return key policy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RETURN on popup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Close the exit confirmation popup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The app stays on the Home page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RETURN on Discover / Detail / Player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Go to the previous screen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Navigates back within the app flow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EXIT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Close the application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Platform default Samsung TV behavior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PLAY / PAUSE / FF / RW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N/R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No custom key mapping in current release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COLOR / CHANNEL / NUMBER KEYS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N/R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No custom key mapping in current release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How to Change Languages</a:t>
            </a:r>
          </a:p>
        </p:txBody>
      </p:sp>
      <p:graphicFrame>
        <p:nvGraphicFramePr>
          <p:cNvPr id="208" name="Google Shape;208;p26"/>
          <p:cNvGraphicFramePr/>
          <p:nvPr/>
        </p:nvGraphicFramePr>
        <p:xfrm>
          <a:off x="467544" y="1935163"/>
          <a:ext cx="8219250" cy="1081200"/>
        </p:xfrm>
        <a:graphic>
          <a:graphicData uri="http://schemas.openxmlformats.org/drawingml/2006/table">
            <a:tbl>
              <a:tblPr firstRow="1" bandRow="1">
                <a:noFill/>
                <a:tableStyleId>{25375610-7600-4973-BF82-191DA6F836F1}</a:tableStyleId>
              </a:tblPr>
              <a:tblGrid>
                <a:gridCol w="195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150">
                <a:tc>
                  <a:txBody>
                    <a:bodyPr/>
                    <a:lstStyle/>
                    <a:p>
                      <a:r>
                        <a:rPr sz="1200" b="1"/>
                        <a:t>Items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Contents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0">
                <a:tc>
                  <a:txBody>
                    <a:bodyPr/>
                    <a:lstStyle/>
                    <a:p>
                      <a:r>
                        <a:rPr sz="1200" b="0"/>
                        <a:t>Language support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This version supports English only. No in-app language change menu is provided.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725</Words>
  <Application>Microsoft Office PowerPoint</Application>
  <PresentationFormat>全屏显示(4:3)</PresentationFormat>
  <Paragraphs>132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Noto Sans Symbols</vt:lpstr>
      <vt:lpstr>Constantia</vt:lpstr>
      <vt:lpstr>Calibri</vt:lpstr>
      <vt:lpstr>Arial</vt:lpstr>
      <vt:lpstr>흐름</vt:lpstr>
      <vt:lpstr>흐름</vt:lpstr>
      <vt:lpstr>MoneTV Description</vt:lpstr>
      <vt:lpstr>Revision History</vt:lpstr>
      <vt:lpstr>Contents</vt:lpstr>
      <vt:lpstr>UI Structure</vt:lpstr>
      <vt:lpstr>UI Structure - Flow Graph</vt:lpstr>
      <vt:lpstr>UI Structure - Depth Navigation</vt:lpstr>
      <vt:lpstr>Usage Scenario</vt:lpstr>
      <vt:lpstr>Usage Scenario</vt:lpstr>
      <vt:lpstr>PowerPoint 演示文稿</vt:lpstr>
      <vt:lpstr>Menu &amp; Function Description</vt:lpstr>
      <vt:lpstr>PowerPoint 演示文稿</vt:lpstr>
      <vt:lpstr>Key Policy</vt:lpstr>
      <vt:lpstr>How to Change Languages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oneting zhang</cp:lastModifiedBy>
  <cp:revision>1</cp:revision>
  <dcterms:modified xsi:type="dcterms:W3CDTF">2026-03-24T03:47:39Z</dcterms:modified>
</cp:coreProperties>
</file>